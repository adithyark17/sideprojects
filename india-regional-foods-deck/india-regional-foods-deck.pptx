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Main argument: this deck frames the report's central reframe up front — the opportunity is not generic Ready-to-Eat, it is building India's first Premium Regional Food Company. Evidence/assumption: this is the report's stated opinion, not yet tested with consumers or capital. Discussion question: does 'House of Regional Indian Cuisine' land as a category-defining idea, or does it need sharper proof points before it convinces? Transition: next slide unpacks the opinion in full — what consumers are actually buying.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Main argument: the report's core opinion — this is one of the most attractive consumer opportunities in India this decade, but only if it's built as a premium regional cuisine platform, not a generic RTE brand. Evidence/assumption: this is a strategic opinion from the report's authors, not a market-tested claim; the six 'what consumers are buying' items are the report's framing, not survey data. Discussion question: which of the six — Time, Trust, Authenticity, Health, Premium Experience, Consistency — is hardest to actually deliver at scale? Transition: next slide grounds this opinion in the underlying market size.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Main argument: the addressable market is layered — a $600B+ food processing industry containing a fast-growing but still small $1-1.3B RTE segment, with quick commerce (&gt;40% annual growth) as the accelerant. Evidence/assumption: figures are the report's own 2025-26 estimates; source methodology isn't specified in the document, so treat as directional industry sizing, not audited data. Discussion question: which of these five categories is the right one to actually be measured against in year one? Transition: next slide explains why this market is growing right now, not just why it's large.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Main argument: the RTE opportunity is downstream of a real demographic shift in Indian households — dual incomes, distance from home, and time scarcity — not a manufactured trend. Evidence/assumption: this is a qualitative societal narrative from the report, not backed by cited demographic statistics in the document. Discussion question: which of these five shifts is most true in the specific city/segment we'd launch in first? Transition: next slide shows how consumer expectations have evolved in step with this shift.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Main argument: Indian consumers have moved through four generations of purchase logic, and the fourth — premium authenticity — is where the pricing power and margin actually live. Evidence/assumption: this generational framework is the report's own model, not a cited academic or survey source. Discussion question: is our target beachhead audience actually in generation 4 today, or are we betting on them moving there? Transition: next slide shows exactly where that premium-authenticity demand is currently unmet — the white space.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Main argument: nearly every scaled Indian RTE brand owns North Indian staples; almost none own premium South Indian regional cuisine, and that gap is large enough to be a platform, not a product line. Evidence/assumption: 'very few companies own premium South Indian regional cuisine' is a competitive-landscape claim from the report, not a documented market-share analysis. Discussion question: which single dish on this white-space list would make the strongest hero SKU to prove the thesis first? Transition: next slide reframes what building in this white space actually means strategically.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Main argument: reframing the business from 'selling Ready-to-Eat' to 'exporting Kerala to the world' changes the competitive set, pricing power, and brand latitude. Evidence/assumption: the four downstream consequences (fewer competitors, better pricing, stronger branding, expanded export opportunity) are the report's stated logic, not measured outcomes. Discussion question: if we adopt this frame internally, what's the first decision it should actually change — pricing, packaging, or which market we launch in? Transition: next slide breaks down exactly who this reframed business serves.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Main argument: seven distinct segments exist with different needs and margin profiles — urban professionals are the volume base, NRIs are likely the highest-margin segment, and fitness is a segment that barely exists as a category yet in India. Evidence/assumption: segment sizing and margin ranking ('largest opportunity', 'possibly highest margin') are the report's qualitative judgment, not quantified research. Discussion question: which two segments should the first 12 months actually be built for, given the beachhead is South India? Transition: next slide shows the product strategy built to serve these segments without overextending into 60 SKUs.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Main argument: discipline beats breadth at launch — 12 hero products across four lines is enough to prove the thesis without the operational drag of 60 SKUs. Evidence/assumption: '12 Hero Products' is a strategic recommendation, not a validated optimal count. Discussion question: if we had to cut this list to 6 SKUs for a pilot, which 6 would carry the brand promise best? Transition: next slide zooms into one specific line — jerky — and argues it deserves outsized attention.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Main argument: India has followed the West's protein-product adoption curve through powders, bars, cookies, and chips — meat/veg jerky is the plausible next wave, and it's nearly uncontested in India today. Evidence/assumption: the ₹500-1,000 crore category-size figure is the report's own projection framed explicitly as conditional ('if executed correctly'), requiring sustained consumer education — label it as a projection, not a forecast. Discussion question: which single use case (gym, travel, military, export) would you target first to prove jerky demand cheaply? Transition: next slide moves from product to geography — where this whole strategy should launch first.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Main argument: the entry sequencing matters as much as the product — launch where the cuisine is already understood, let word of mouth and authenticity compound, then move north. Evidence/assumption: this sequencing logic is a strategic recommendation, not tested against actual regional demand data. Discussion question: within these five states/cities, which one city should carry the pilot launch cost first? Transition: next slide lays out the specific channel-by-channel go-to-market plan for executing this sequencing.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Main argument: the go-to-market sequence deliberately moves from low-fixed-cost digital channels toward higher-commitment institutional and export channels, de-risking capital as credibility builds. Evidence/assumption: the 5-phase sequencing is a recommended plan, not a committed timeline with dates. Discussion question: how long should Phase 1 (Digital First) run before triggering Phase 2 modern-retail conversations? Transition: next slide explains why not every channel in this sequence should be treated the same way strategically.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Main argument: a common mistake is treating every channel as equally important — each channel actually plays one of four distinct jobs (brand, revenue, volume, or margin), and conflating them wastes resources. Evidence/assumption: this channel-to-job mapping is the report's own framework, not a benchmarked industry model. Discussion question: if forced to fund only two of these four channel groups in year one, which two compound the fastest? Transition: next slide moves from channel mechanics to the brand story that has to travel through all of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Main argument: the brand must not present as a technology or convenience company — it should present as a kitchen with a story, because consumers remember stories, not manufacturing process. Evidence/assumption: the brand promise line is the report's proposed copy, not tested with consumers. Discussion question: does 'Ready in 90 Seconds' undercut the premium/authenticity positioning, or reinforce it? Transition: next slide turns this brand promise into an actual phased marketing campaign.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Main argument: the campaign is sequenced to build from skepticism (can packaged food taste homemade?) to proof (taste challenge) to emotional connection (storytelling) to reach (influencers) to retention (community) — each phase earns the next. Evidence/assumption: this is a proposed campaign structure, not a tested media plan with budgets or timelines. Discussion question: which phase is riskiest to get wrong — the taste challenge, given it's a public claim that can fail on camera? Transition: next slide shifts from front-of-house marketing to the back-of-house operating model that has to support all of this.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Main argument: the company should own brand, recipes, and the customer relationship — and rent everything else (manufacturing, logistics) until scale justifies vertical integration. Evidence/assumption: 'never build a factory first' is a strategic recommendation to reduce early capital risk, not a claim that contract manufacturing guarantees quality. Discussion question: at what volume or revenue threshold would owning manufacturing actually start to make sense? Transition: next slide turns this operating model into a concrete first 12-month execution plan.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Main argument: the first four months are entirely about de-risking — validating demand and finalizing product before spending on launch marketing. Evidence/assumption: the KPIs and deliverables listed are the report's planning targets, not results already achieved. Discussion question: what would have to be true in the Months 1-2 taste panels for us to proceed to Months 3-4 with confidence? Transition: next slide covers the controlled launch and scale phases that follow this foundation.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Main argument: launch, scale, and institutional readiness are sequenced across the back eight months, with explicit success metrics at each stage rather than an open-ended rollout. Evidence/assumption: these are planning KPIs (trial customers, repeat purchase, outlet counts), not achieved results. Discussion question: which single KPI on this slide is the best early warning signal if the plan is off track? Transition: next slide zooms out from the 12-month plan to the long-term structural recommendation for the business.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Main argument: the business should not be built as a single conventional FMCG line but as a multi-brand platform with four connected divisions, each with a different margin and go-to-market profile. Evidence/assumption: this four-division structure is the report's proposed architecture, not an existing organizational reality. Discussion question: should all four divisions be built in parallel, or does Division 1 need to prove out fully before funding Division 4? Transition: next slide gives the long-term scale ambition this platform structure is meant to support.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Main argument: the 5-10 year outcome — a ₹500-1,000 crore branded food company — is achievable but conditional on sustained investment in quality, brand, distribution, and manufacturing, and on refusing to compete on price. Evidence/assumption: the ₹500-1,000cr figure is the report's own long-term ambition framed as conditional ('would require'), not a projection with a stated methodology — present it as a vision, not a forecast. Discussion question: what would be the clearest signal, 24 months in, that we're actually on this trajectory versus building a smaller regional brand? Transition: next slide synthesizes the entire report into one summary view.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Main argument: the whole report compresses into one sentence — build a regional cuisine platform starting with Kerala, sequenced South-first, structured as four divisions, judged against the mother's-kitchen benchmark rather than other RTE brands. Evidence/assumption: this is a synthesis slide, not new information — cross-check it against the earlier detail slides before using it standalone. Discussion question: if someone only reads this one slide, what's the one thing they'd need to also read in full before making a capital decision? Transition: closing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Main argument: this closing slide restates the report's central identity claim — the company should be remembered as the House of Regional Indian Cuisine, not a Ready-to-Eat vendor — and opens the floor for discussion. Evidence/assumption: this is a closing framing device, not new information. Discussion question: what would you need to see in the next 90 days to move from 'interesting report' to 'funded pilot'? Transition: end of deck — open discussion.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80F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1097280"/>
            <a:ext cx="5943600" cy="4114800"/>
          </a:xfrm>
          <a:prstGeom prst="rect">
            <a:avLst/>
          </a:prstGeom>
          <a:solidFill>
            <a:srgbClr val="B8532E">
              <a:alpha val="1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5120640"/>
            <a:ext cx="5029200" cy="3108960"/>
          </a:xfrm>
          <a:prstGeom prst="rect">
            <a:avLst/>
          </a:prstGeom>
          <a:solidFill>
            <a:srgbClr val="C9962B">
              <a:alpha val="11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9659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53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MARKET ENTRY STRATEGY &amp; BUSINESS OPPORTUNITY REPORT — 22 JULY 2026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2377440"/>
            <a:ext cx="107899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5400" dirty="0">
                <a:solidFill>
                  <a:srgbClr val="F4E9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India's Premium</a:t>
            </a:r>
            <a:endParaRPr lang="en-US" sz="5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5400" dirty="0">
                <a:solidFill>
                  <a:srgbClr val="F4E9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Regional Food Opportunity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640080" y="434340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B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Ready-to-Eat &amp; High-Protein Convenience Foods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7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Focus: Premium South Indian Cuisine  ·  Kerala Ethnic Foods  ·  Meat &amp; Vegetable Jerky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85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pPr algn="l" indent="0" marL="0">
              <a:buNone/>
            </a:pPr>
            <a:r>
              <a:rPr lang="en-US" sz="900" dirty="0">
                <a:solidFill>
                  <a:srgbClr val="8F7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 of Regional Indian Cuisine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317175" y="647395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7B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/ 22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80F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1097280"/>
            <a:ext cx="5943600" cy="4114800"/>
          </a:xfrm>
          <a:prstGeom prst="rect">
            <a:avLst/>
          </a:prstGeom>
          <a:solidFill>
            <a:srgbClr val="B8532E">
              <a:alpha val="1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5120640"/>
            <a:ext cx="5029200" cy="3108960"/>
          </a:xfrm>
          <a:prstGeom prst="rect">
            <a:avLst/>
          </a:prstGeom>
          <a:solidFill>
            <a:srgbClr val="C9962B">
              <a:alpha val="11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853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EXECUTIVE SUMMARY — OUR OPINION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658368"/>
            <a:ext cx="90525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4E9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of the most attractive consumer businesses India will witness this decade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402775" y="40233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8F7B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— OPINION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02920" y="1481328"/>
            <a:ext cx="11185855" cy="0"/>
          </a:xfrm>
          <a:prstGeom prst="line">
            <a:avLst/>
          </a:prstGeom>
          <a:noFill/>
          <a:ln w="12700">
            <a:solidFill>
              <a:srgbClr val="4A3A2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783080"/>
            <a:ext cx="51206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9B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 is </a:t>
            </a:r>
            <a:pPr indent="0" marL="0">
              <a:lnSpc>
                <a:spcPct val="125000"/>
              </a:lnSpc>
              <a:buNone/>
            </a:pPr>
            <a:r>
              <a:rPr lang="en-US" sz="1500" i="1" dirty="0">
                <a:solidFill>
                  <a:srgbClr val="8F7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9B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“Ready-to-Eat Food.”
</a:t>
            </a:r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F4E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becoming India's first </a:t>
            </a:r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C99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Regional Food Company</a:t>
            </a:r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F4E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delivering restaurant-quality authentic regional cuisine through modern food technology.
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8F7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 don't build another MTR, Haldiram, or ITC clone. Build the “House of Regional Indian Cuisine,” beginning with Kerala and South Indian foods.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943600" y="1783080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8F7B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CONSUMERS ARE NO LONGER BUYING CONVENIENCE ALONE. THEY ARE BUYING —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943600" y="2240280"/>
            <a:ext cx="1828800" cy="914400"/>
          </a:xfrm>
          <a:prstGeom prst="roundRect">
            <a:avLst>
              <a:gd name="adj" fmla="val 9000"/>
            </a:avLst>
          </a:prstGeom>
          <a:solidFill>
            <a:srgbClr val="2B1C13"/>
          </a:solidFill>
          <a:ln w="12700">
            <a:solidFill>
              <a:srgbClr val="4A3A2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0" y="224028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99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909560" y="2240280"/>
            <a:ext cx="1828800" cy="914400"/>
          </a:xfrm>
          <a:prstGeom prst="roundRect">
            <a:avLst>
              <a:gd name="adj" fmla="val 9000"/>
            </a:avLst>
          </a:prstGeom>
          <a:solidFill>
            <a:srgbClr val="2B1C13"/>
          </a:solidFill>
          <a:ln w="12700">
            <a:solidFill>
              <a:srgbClr val="4A3A2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09560" y="224028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99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Trust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9875520" y="2240280"/>
            <a:ext cx="1828800" cy="914400"/>
          </a:xfrm>
          <a:prstGeom prst="roundRect">
            <a:avLst>
              <a:gd name="adj" fmla="val 9000"/>
            </a:avLst>
          </a:prstGeom>
          <a:solidFill>
            <a:srgbClr val="2B1C13"/>
          </a:solidFill>
          <a:ln w="12700">
            <a:solidFill>
              <a:srgbClr val="4A3A2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875520" y="224028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99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Authenticity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943600" y="3291840"/>
            <a:ext cx="1828800" cy="914400"/>
          </a:xfrm>
          <a:prstGeom prst="roundRect">
            <a:avLst>
              <a:gd name="adj" fmla="val 9000"/>
            </a:avLst>
          </a:prstGeom>
          <a:solidFill>
            <a:srgbClr val="2B1C13"/>
          </a:solidFill>
          <a:ln w="12700">
            <a:solidFill>
              <a:srgbClr val="4A3A2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0" y="329184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99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Health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7909560" y="3291840"/>
            <a:ext cx="1828800" cy="914400"/>
          </a:xfrm>
          <a:prstGeom prst="roundRect">
            <a:avLst>
              <a:gd name="adj" fmla="val 9000"/>
            </a:avLst>
          </a:prstGeom>
          <a:solidFill>
            <a:srgbClr val="2B1C13"/>
          </a:solidFill>
          <a:ln w="12700">
            <a:solidFill>
              <a:srgbClr val="4A3A2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909560" y="329184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99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Premium Experience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9875520" y="3291840"/>
            <a:ext cx="1828800" cy="914400"/>
          </a:xfrm>
          <a:prstGeom prst="roundRect">
            <a:avLst>
              <a:gd name="adj" fmla="val 9000"/>
            </a:avLst>
          </a:prstGeom>
          <a:solidFill>
            <a:srgbClr val="2B1C13"/>
          </a:solidFill>
          <a:ln w="12700">
            <a:solidFill>
              <a:srgbClr val="4A3A2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875520" y="329184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99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Consistency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85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pPr algn="l" indent="0" marL="0">
              <a:buNone/>
            </a:pPr>
            <a:r>
              <a:rPr lang="en-US" sz="900" dirty="0">
                <a:solidFill>
                  <a:srgbClr val="8F7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 of Regional Indian Cuisine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317175" y="647395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7B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/ 22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853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MARKET SIZE &amp; OPPORTUNITY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90525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2416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large, fast-growing, still-underdeveloped market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402775" y="40233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8C7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— MARKET SIZE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02920" y="1481328"/>
            <a:ext cx="11185855" cy="0"/>
          </a:xfrm>
          <a:prstGeom prst="line">
            <a:avLst/>
          </a:prstGeom>
          <a:noFill/>
          <a:ln w="12700">
            <a:solidFill>
              <a:srgbClr val="E4DCC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92024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16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Food Processing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0" y="2039112"/>
            <a:ext cx="5486400" cy="146304"/>
          </a:xfrm>
          <a:prstGeom prst="roundRect">
            <a:avLst>
              <a:gd name="adj" fmla="val 50000"/>
            </a:avLst>
          </a:prstGeom>
          <a:solidFill>
            <a:srgbClr val="F1EBE0"/>
          </a:solidFill>
          <a:ln/>
        </p:spPr>
      </p:sp>
      <p:sp>
        <p:nvSpPr>
          <p:cNvPr id="8" name="Shape 6"/>
          <p:cNvSpPr/>
          <p:nvPr/>
        </p:nvSpPr>
        <p:spPr>
          <a:xfrm>
            <a:off x="3657600" y="2039112"/>
            <a:ext cx="5486400" cy="146304"/>
          </a:xfrm>
          <a:prstGeom prst="roundRect">
            <a:avLst>
              <a:gd name="adj" fmla="val 50000"/>
            </a:avLst>
          </a:prstGeom>
          <a:solidFill>
            <a:srgbClr val="B8532E"/>
          </a:solidFill>
          <a:ln/>
        </p:spPr>
      </p:sp>
      <p:sp>
        <p:nvSpPr>
          <p:cNvPr id="9" name="Text 7"/>
          <p:cNvSpPr/>
          <p:nvPr/>
        </p:nvSpPr>
        <p:spPr>
          <a:xfrm>
            <a:off x="9326880" y="192024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2416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US$600+ Billion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02920" y="2487168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16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Packaged Food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0" y="2606040"/>
            <a:ext cx="5486400" cy="146304"/>
          </a:xfrm>
          <a:prstGeom prst="roundRect">
            <a:avLst>
              <a:gd name="adj" fmla="val 50000"/>
            </a:avLst>
          </a:prstGeom>
          <a:solidFill>
            <a:srgbClr val="F1EBE0"/>
          </a:solidFill>
          <a:ln/>
        </p:spPr>
      </p:sp>
      <p:sp>
        <p:nvSpPr>
          <p:cNvPr id="12" name="Shape 10"/>
          <p:cNvSpPr/>
          <p:nvPr/>
        </p:nvSpPr>
        <p:spPr>
          <a:xfrm>
            <a:off x="3657600" y="2606040"/>
            <a:ext cx="4498848" cy="146304"/>
          </a:xfrm>
          <a:prstGeom prst="roundRect">
            <a:avLst>
              <a:gd name="adj" fmla="val 50000"/>
            </a:avLst>
          </a:prstGeom>
          <a:solidFill>
            <a:srgbClr val="B8532E"/>
          </a:solidFill>
          <a:ln/>
        </p:spPr>
      </p:sp>
      <p:sp>
        <p:nvSpPr>
          <p:cNvPr id="13" name="Text 11"/>
          <p:cNvSpPr/>
          <p:nvPr/>
        </p:nvSpPr>
        <p:spPr>
          <a:xfrm>
            <a:off x="9326880" y="2487168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2416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US$75–85 Billion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02920" y="3054096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16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 Food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657600" y="3172968"/>
            <a:ext cx="5486400" cy="146304"/>
          </a:xfrm>
          <a:prstGeom prst="roundRect">
            <a:avLst>
              <a:gd name="adj" fmla="val 50000"/>
            </a:avLst>
          </a:prstGeom>
          <a:solidFill>
            <a:srgbClr val="F1EBE0"/>
          </a:solidFill>
          <a:ln/>
        </p:spPr>
      </p:sp>
      <p:sp>
        <p:nvSpPr>
          <p:cNvPr id="16" name="Shape 14"/>
          <p:cNvSpPr/>
          <p:nvPr/>
        </p:nvSpPr>
        <p:spPr>
          <a:xfrm>
            <a:off x="3657600" y="3172968"/>
            <a:ext cx="768096" cy="146304"/>
          </a:xfrm>
          <a:prstGeom prst="roundRect">
            <a:avLst>
              <a:gd name="adj" fmla="val 50000"/>
            </a:avLst>
          </a:prstGeom>
          <a:solidFill>
            <a:srgbClr val="B8532E"/>
          </a:solidFill>
          <a:ln/>
        </p:spPr>
      </p:sp>
      <p:sp>
        <p:nvSpPr>
          <p:cNvPr id="17" name="Text 15"/>
          <p:cNvSpPr/>
          <p:nvPr/>
        </p:nvSpPr>
        <p:spPr>
          <a:xfrm>
            <a:off x="9326880" y="3054096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2416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US$2+ Billion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02920" y="3621024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16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Eat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0" y="3739896"/>
            <a:ext cx="5486400" cy="146304"/>
          </a:xfrm>
          <a:prstGeom prst="roundRect">
            <a:avLst>
              <a:gd name="adj" fmla="val 50000"/>
            </a:avLst>
          </a:prstGeom>
          <a:solidFill>
            <a:srgbClr val="F1EBE0"/>
          </a:solidFill>
          <a:ln/>
        </p:spPr>
      </p:sp>
      <p:sp>
        <p:nvSpPr>
          <p:cNvPr id="20" name="Shape 18"/>
          <p:cNvSpPr/>
          <p:nvPr/>
        </p:nvSpPr>
        <p:spPr>
          <a:xfrm>
            <a:off x="3657600" y="3739896"/>
            <a:ext cx="493776" cy="146304"/>
          </a:xfrm>
          <a:prstGeom prst="roundRect">
            <a:avLst>
              <a:gd name="adj" fmla="val 50000"/>
            </a:avLst>
          </a:prstGeom>
          <a:solidFill>
            <a:srgbClr val="B8532E"/>
          </a:solidFill>
          <a:ln/>
        </p:spPr>
      </p:sp>
      <p:sp>
        <p:nvSpPr>
          <p:cNvPr id="21" name="Text 19"/>
          <p:cNvSpPr/>
          <p:nvPr/>
        </p:nvSpPr>
        <p:spPr>
          <a:xfrm>
            <a:off x="9326880" y="3621024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2416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US$1–1.3 Billion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02920" y="4187952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16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Cook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657600" y="4306824"/>
            <a:ext cx="5486400" cy="146304"/>
          </a:xfrm>
          <a:prstGeom prst="roundRect">
            <a:avLst>
              <a:gd name="adj" fmla="val 50000"/>
            </a:avLst>
          </a:prstGeom>
          <a:solidFill>
            <a:srgbClr val="F1EBE0"/>
          </a:solidFill>
          <a:ln/>
        </p:spPr>
      </p:sp>
      <p:sp>
        <p:nvSpPr>
          <p:cNvPr id="24" name="Shape 22"/>
          <p:cNvSpPr/>
          <p:nvPr/>
        </p:nvSpPr>
        <p:spPr>
          <a:xfrm>
            <a:off x="3657600" y="4306824"/>
            <a:ext cx="329184" cy="146304"/>
          </a:xfrm>
          <a:prstGeom prst="roundRect">
            <a:avLst>
              <a:gd name="adj" fmla="val 50000"/>
            </a:avLst>
          </a:prstGeom>
          <a:solidFill>
            <a:srgbClr val="B8532E"/>
          </a:solidFill>
          <a:ln/>
        </p:spPr>
      </p:sp>
      <p:sp>
        <p:nvSpPr>
          <p:cNvPr id="25" name="Text 23"/>
          <p:cNvSpPr/>
          <p:nvPr/>
        </p:nvSpPr>
        <p:spPr>
          <a:xfrm>
            <a:off x="9326880" y="4187952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2416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US$700+ Million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02920" y="4892040"/>
            <a:ext cx="11183112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4DCCB"/>
            </a:solidFill>
            <a:prstDash val="solid"/>
          </a:ln>
          <a:effectLst>
            <a:outerShdw sx="100000" sy="100000" kx="0" ky="0" algn="bl" rotWithShape="0" blurRad="177800" dist="63500" dir="5400000">
              <a:srgbClr val="2B1C13">
                <a:alpha val="16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777240" y="5074920"/>
            <a:ext cx="8778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416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 Commerce Food Sales are 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B85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growing &gt;40% annually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416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in major cities — the distribution accelerant underneath all five categories.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9966960" y="525780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F3E2DA"/>
          </a:solidFill>
          <a:ln w="12700">
            <a:solidFill>
              <a:srgbClr val="D9B6A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966960" y="52578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3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2025–26 EST.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85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pPr algn="l" indent="0" marL="0">
              <a:buNone/>
            </a:pPr>
            <a:r>
              <a:rPr lang="en-US" sz="900" dirty="0">
                <a:solidFill>
                  <a:srgbClr val="8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 of Regional Indian Cuisine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317175" y="647395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7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/ 22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853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IS THIS INDUSTRY GROWING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90525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dirty="0">
                <a:solidFill>
                  <a:srgbClr val="2416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Because India itself is changing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402775" y="40233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8C7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— CONTEXT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02920" y="1481328"/>
            <a:ext cx="11185855" cy="0"/>
          </a:xfrm>
          <a:prstGeom prst="line">
            <a:avLst/>
          </a:prstGeom>
          <a:noFill/>
          <a:ln w="12700">
            <a:solidFill>
              <a:srgbClr val="E4DCC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8745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B853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TWENTY YEARS AGO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2286000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416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Mothers stayed home.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2743200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416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Meals were cooked fresh.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989320" y="1874520"/>
            <a:ext cx="0" cy="2194560"/>
          </a:xfrm>
          <a:prstGeom prst="line">
            <a:avLst/>
          </a:prstGeom>
          <a:noFill/>
          <a:ln w="12700">
            <a:solidFill>
              <a:srgbClr val="E4DCC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63640" y="18745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B853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TODAY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263640" y="2286000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416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Both husband and wife work.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263640" y="2670048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416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Children eat separately.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263640" y="3054096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416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Working professionals travel.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263640" y="3438144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416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Students live away from home.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263640" y="3822192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416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People order food online.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02920" y="4709160"/>
            <a:ext cx="11183112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CCB"/>
            </a:solidFill>
            <a:prstDash val="solid"/>
          </a:ln>
          <a:effectLst>
            <a:outerShdw sx="100000" sy="100000" kx="0" ky="0" algn="bl" rotWithShape="0" blurRad="177800" dist="63500" dir="5400000">
              <a:srgbClr val="2B1C13">
                <a:alpha val="1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02920" y="4846320"/>
            <a:ext cx="1118311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2416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“I want home food </a:t>
            </a:r>
            <a:pPr algn="ctr" indent="0" marL="0">
              <a:buNone/>
            </a:pPr>
            <a:r>
              <a:rPr lang="en-US" sz="2400" b="1" i="1" dirty="0">
                <a:solidFill>
                  <a:srgbClr val="B85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without cooking</a:t>
            </a:r>
            <a:pPr algn="ctr" indent="0" marL="0">
              <a:buNone/>
            </a:pPr>
            <a:r>
              <a:rPr lang="en-US" sz="2400" i="1" dirty="0">
                <a:solidFill>
                  <a:srgbClr val="2416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.”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502920" y="5440680"/>
            <a:ext cx="111831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8C7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— that is exactly where Ready-to-Eat fits.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85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pPr algn="l" indent="0" marL="0">
              <a:buNone/>
            </a:pPr>
            <a:r>
              <a:rPr lang="en-US" sz="900" dirty="0">
                <a:solidFill>
                  <a:srgbClr val="8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 of Regional Indian Cuisine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317175" y="647395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7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/ 22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80F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1097280"/>
            <a:ext cx="5943600" cy="4114800"/>
          </a:xfrm>
          <a:prstGeom prst="rect">
            <a:avLst/>
          </a:prstGeom>
          <a:solidFill>
            <a:srgbClr val="B8532E">
              <a:alpha val="1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5120640"/>
            <a:ext cx="5029200" cy="3108960"/>
          </a:xfrm>
          <a:prstGeom prst="rect">
            <a:avLst/>
          </a:prstGeom>
          <a:solidFill>
            <a:srgbClr val="C9962B">
              <a:alpha val="11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853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CONSUMER EVOLUTION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658368"/>
            <a:ext cx="90525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dirty="0">
                <a:solidFill>
                  <a:srgbClr val="F4E9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fourth generation is where the money is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9402775" y="40233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8F7B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— CONSUMER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02920" y="1481328"/>
            <a:ext cx="11185855" cy="0"/>
          </a:xfrm>
          <a:prstGeom prst="line">
            <a:avLst/>
          </a:prstGeom>
          <a:noFill/>
          <a:ln w="12700">
            <a:solidFill>
              <a:srgbClr val="4A3A2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2743200"/>
            <a:ext cx="2514600" cy="1371600"/>
          </a:xfrm>
          <a:prstGeom prst="roundRect">
            <a:avLst>
              <a:gd name="adj" fmla="val 6000"/>
            </a:avLst>
          </a:prstGeom>
          <a:solidFill>
            <a:srgbClr val="2B1C13"/>
          </a:solidFill>
          <a:ln w="12700">
            <a:solidFill>
              <a:srgbClr val="4A3A2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88036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53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 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" y="3200400"/>
            <a:ext cx="21488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4E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Sensitive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017520" y="320040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F7B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337560" y="2743200"/>
            <a:ext cx="2514600" cy="1371600"/>
          </a:xfrm>
          <a:prstGeom prst="roundRect">
            <a:avLst>
              <a:gd name="adj" fmla="val 6000"/>
            </a:avLst>
          </a:prstGeom>
          <a:solidFill>
            <a:srgbClr val="2B1C13"/>
          </a:solidFill>
          <a:ln w="12700">
            <a:solidFill>
              <a:srgbClr val="4A3A2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20440" y="288036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53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 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520440" y="3200400"/>
            <a:ext cx="21488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4E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Convenience Seeking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852160" y="320040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F7B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172200" y="2743200"/>
            <a:ext cx="2514600" cy="1371600"/>
          </a:xfrm>
          <a:prstGeom prst="roundRect">
            <a:avLst>
              <a:gd name="adj" fmla="val 6000"/>
            </a:avLst>
          </a:prstGeom>
          <a:solidFill>
            <a:srgbClr val="2B1C13"/>
          </a:solidFill>
          <a:ln w="12700">
            <a:solidFill>
              <a:srgbClr val="4A3A2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55080" y="288036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53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 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355080" y="3200400"/>
            <a:ext cx="21488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4E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 Seeking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686800" y="320040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F7B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9006840" y="2743200"/>
            <a:ext cx="2514600" cy="1371600"/>
          </a:xfrm>
          <a:prstGeom prst="roundRect">
            <a:avLst>
              <a:gd name="adj" fmla="val 6000"/>
            </a:avLst>
          </a:prstGeom>
          <a:solidFill>
            <a:srgbClr val="2B1C13"/>
          </a:solidFill>
          <a:ln w="12700">
            <a:solidFill>
              <a:srgbClr val="C9962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89720" y="288036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96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 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189720" y="3200400"/>
            <a:ext cx="21488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C99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Authenticity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02920" y="4663440"/>
            <a:ext cx="1118311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2200" i="1" dirty="0">
                <a:solidFill>
                  <a:srgbClr val="F4E9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Consumers no longer compare you to another RTE brand.
</a:t>
            </a:r>
            <a:pPr algn="ctr" indent="0" marL="0">
              <a:lnSpc>
                <a:spcPct val="130000"/>
              </a:lnSpc>
              <a:buNone/>
            </a:pPr>
            <a:r>
              <a:rPr lang="en-US" sz="2200" i="1" dirty="0">
                <a:solidFill>
                  <a:srgbClr val="F4E9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They ask </a:t>
            </a:r>
            <a:pPr algn="ctr" indent="0" marL="0">
              <a:lnSpc>
                <a:spcPct val="130000"/>
              </a:lnSpc>
              <a:buNone/>
            </a:pPr>
            <a:r>
              <a:rPr lang="en-US" sz="2200" b="1" dirty="0">
                <a:solidFill>
                  <a:srgbClr val="C99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“Can this replace my mother's food?”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85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pPr algn="l" indent="0" marL="0">
              <a:buNone/>
            </a:pPr>
            <a:r>
              <a:rPr lang="en-US" sz="900" dirty="0">
                <a:solidFill>
                  <a:srgbClr val="8F7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 of Regional Indian Cuisine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317175" y="647395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7B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/ 22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853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BIG WHITE SPACE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90525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2416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North Indian is owned. South Indian regional cuisine is not.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402775" y="40233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8C7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— WHITE SPACE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02920" y="1481328"/>
            <a:ext cx="11185855" cy="0"/>
          </a:xfrm>
          <a:prstGeom prst="line">
            <a:avLst/>
          </a:prstGeom>
          <a:noFill/>
          <a:ln w="12700">
            <a:solidFill>
              <a:srgbClr val="E4DCC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87452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B853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CURRENT BRANDS DOMINATE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02920" y="2240280"/>
            <a:ext cx="822960" cy="365760"/>
          </a:xfrm>
          <a:prstGeom prst="roundRect">
            <a:avLst>
              <a:gd name="adj" fmla="val 50000"/>
            </a:avLst>
          </a:prstGeom>
          <a:solidFill>
            <a:srgbClr val="F1EBE0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24028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4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Rajma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435608" y="2240280"/>
            <a:ext cx="658368" cy="365760"/>
          </a:xfrm>
          <a:prstGeom prst="roundRect">
            <a:avLst>
              <a:gd name="adj" fmla="val 50000"/>
            </a:avLst>
          </a:prstGeom>
          <a:solidFill>
            <a:srgbClr val="F1EBE0"/>
          </a:solidFill>
          <a:ln/>
        </p:spPr>
      </p:sp>
      <p:sp>
        <p:nvSpPr>
          <p:cNvPr id="10" name="Text 8"/>
          <p:cNvSpPr/>
          <p:nvPr/>
        </p:nvSpPr>
        <p:spPr>
          <a:xfrm>
            <a:off x="1435608" y="2240280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4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203704" y="2240280"/>
            <a:ext cx="822960" cy="365760"/>
          </a:xfrm>
          <a:prstGeom prst="roundRect">
            <a:avLst>
              <a:gd name="adj" fmla="val 50000"/>
            </a:avLst>
          </a:prstGeom>
          <a:solidFill>
            <a:srgbClr val="F1EBE0"/>
          </a:solidFill>
          <a:ln/>
        </p:spPr>
      </p:sp>
      <p:sp>
        <p:nvSpPr>
          <p:cNvPr id="12" name="Text 10"/>
          <p:cNvSpPr/>
          <p:nvPr/>
        </p:nvSpPr>
        <p:spPr>
          <a:xfrm>
            <a:off x="2203704" y="224028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4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Chole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136392" y="2240280"/>
            <a:ext cx="905256" cy="365760"/>
          </a:xfrm>
          <a:prstGeom prst="roundRect">
            <a:avLst>
              <a:gd name="adj" fmla="val 50000"/>
            </a:avLst>
          </a:prstGeom>
          <a:solidFill>
            <a:srgbClr val="F1EBE0"/>
          </a:solidFill>
          <a:ln/>
        </p:spPr>
      </p:sp>
      <p:sp>
        <p:nvSpPr>
          <p:cNvPr id="14" name="Text 12"/>
          <p:cNvSpPr/>
          <p:nvPr/>
        </p:nvSpPr>
        <p:spPr>
          <a:xfrm>
            <a:off x="3136392" y="2240280"/>
            <a:ext cx="9052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4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Paneer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151376" y="2240280"/>
            <a:ext cx="1152144" cy="365760"/>
          </a:xfrm>
          <a:prstGeom prst="roundRect">
            <a:avLst>
              <a:gd name="adj" fmla="val 50000"/>
            </a:avLst>
          </a:prstGeom>
          <a:solidFill>
            <a:srgbClr val="F1EBE0"/>
          </a:solidFill>
          <a:ln/>
        </p:spPr>
      </p:sp>
      <p:sp>
        <p:nvSpPr>
          <p:cNvPr id="16" name="Text 14"/>
          <p:cNvSpPr/>
          <p:nvPr/>
        </p:nvSpPr>
        <p:spPr>
          <a:xfrm>
            <a:off x="4151376" y="2240280"/>
            <a:ext cx="11521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4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Pav Bhaji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13248" y="2240280"/>
            <a:ext cx="987552" cy="365760"/>
          </a:xfrm>
          <a:prstGeom prst="roundRect">
            <a:avLst>
              <a:gd name="adj" fmla="val 50000"/>
            </a:avLst>
          </a:prstGeom>
          <a:solidFill>
            <a:srgbClr val="F1EBE0"/>
          </a:solidFill>
          <a:ln/>
        </p:spPr>
      </p:sp>
      <p:sp>
        <p:nvSpPr>
          <p:cNvPr id="18" name="Text 16"/>
          <p:cNvSpPr/>
          <p:nvPr/>
        </p:nvSpPr>
        <p:spPr>
          <a:xfrm>
            <a:off x="5413248" y="2240280"/>
            <a:ext cx="987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4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Biryani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989320" y="1874520"/>
            <a:ext cx="0" cy="3566160"/>
          </a:xfrm>
          <a:prstGeom prst="line">
            <a:avLst/>
          </a:prstGeom>
          <a:noFill/>
          <a:ln w="12700">
            <a:solidFill>
              <a:srgbClr val="E4DCC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63640" y="187452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B853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OPEN WHITE SPACE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263640" y="2240280"/>
            <a:ext cx="1920240" cy="365760"/>
          </a:xfrm>
          <a:prstGeom prst="roundRect">
            <a:avLst>
              <a:gd name="adj" fmla="val 50000"/>
            </a:avLst>
          </a:prstGeom>
          <a:solidFill>
            <a:srgbClr val="F3E2DA"/>
          </a:solidFill>
          <a:ln/>
        </p:spPr>
      </p:sp>
      <p:sp>
        <p:nvSpPr>
          <p:cNvPr id="22" name="Text 20"/>
          <p:cNvSpPr/>
          <p:nvPr/>
        </p:nvSpPr>
        <p:spPr>
          <a:xfrm>
            <a:off x="6263640" y="22402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F3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Kerala Chicken Curry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293608" y="2240280"/>
            <a:ext cx="1764792" cy="365760"/>
          </a:xfrm>
          <a:prstGeom prst="roundRect">
            <a:avLst>
              <a:gd name="adj" fmla="val 50000"/>
            </a:avLst>
          </a:prstGeom>
          <a:solidFill>
            <a:srgbClr val="F3E2DA"/>
          </a:solidFill>
          <a:ln/>
        </p:spPr>
      </p:sp>
      <p:sp>
        <p:nvSpPr>
          <p:cNvPr id="24" name="Text 22"/>
          <p:cNvSpPr/>
          <p:nvPr/>
        </p:nvSpPr>
        <p:spPr>
          <a:xfrm>
            <a:off x="8293608" y="2240280"/>
            <a:ext cx="1764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F3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Malabar Fish Curry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0168128" y="2240280"/>
            <a:ext cx="1065276" cy="365760"/>
          </a:xfrm>
          <a:prstGeom prst="roundRect">
            <a:avLst>
              <a:gd name="adj" fmla="val 50000"/>
            </a:avLst>
          </a:prstGeom>
          <a:solidFill>
            <a:srgbClr val="F3E2DA"/>
          </a:solidFill>
          <a:ln/>
        </p:spPr>
      </p:sp>
      <p:sp>
        <p:nvSpPr>
          <p:cNvPr id="26" name="Text 24"/>
          <p:cNvSpPr/>
          <p:nvPr/>
        </p:nvSpPr>
        <p:spPr>
          <a:xfrm>
            <a:off x="10168128" y="2240280"/>
            <a:ext cx="10652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F3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Ghee Rice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263640" y="2697480"/>
            <a:ext cx="1376172" cy="365760"/>
          </a:xfrm>
          <a:prstGeom prst="roundRect">
            <a:avLst>
              <a:gd name="adj" fmla="val 50000"/>
            </a:avLst>
          </a:prstGeom>
          <a:solidFill>
            <a:srgbClr val="F3E2DA"/>
          </a:solidFill>
          <a:ln/>
        </p:spPr>
      </p:sp>
      <p:sp>
        <p:nvSpPr>
          <p:cNvPr id="28" name="Text 26"/>
          <p:cNvSpPr/>
          <p:nvPr/>
        </p:nvSpPr>
        <p:spPr>
          <a:xfrm>
            <a:off x="6263640" y="2697480"/>
            <a:ext cx="13761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F3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Chicken Roast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749540" y="2697480"/>
            <a:ext cx="1220724" cy="365760"/>
          </a:xfrm>
          <a:prstGeom prst="roundRect">
            <a:avLst>
              <a:gd name="adj" fmla="val 50000"/>
            </a:avLst>
          </a:prstGeom>
          <a:solidFill>
            <a:srgbClr val="F3E2DA"/>
          </a:solidFill>
          <a:ln/>
        </p:spPr>
      </p:sp>
      <p:sp>
        <p:nvSpPr>
          <p:cNvPr id="30" name="Text 28"/>
          <p:cNvSpPr/>
          <p:nvPr/>
        </p:nvSpPr>
        <p:spPr>
          <a:xfrm>
            <a:off x="7749540" y="2697480"/>
            <a:ext cx="12207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F3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Beef Roast*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9079992" y="2697480"/>
            <a:ext cx="1220724" cy="365760"/>
          </a:xfrm>
          <a:prstGeom prst="roundRect">
            <a:avLst>
              <a:gd name="adj" fmla="val 50000"/>
            </a:avLst>
          </a:prstGeom>
          <a:solidFill>
            <a:srgbClr val="F3E2DA"/>
          </a:solidFill>
          <a:ln/>
        </p:spPr>
      </p:sp>
      <p:sp>
        <p:nvSpPr>
          <p:cNvPr id="32" name="Text 30"/>
          <p:cNvSpPr/>
          <p:nvPr/>
        </p:nvSpPr>
        <p:spPr>
          <a:xfrm>
            <a:off x="9079992" y="2697480"/>
            <a:ext cx="12207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F3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Prawn Curry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10410444" y="2697480"/>
            <a:ext cx="1143000" cy="365760"/>
          </a:xfrm>
          <a:prstGeom prst="roundRect">
            <a:avLst>
              <a:gd name="adj" fmla="val 50000"/>
            </a:avLst>
          </a:prstGeom>
          <a:solidFill>
            <a:srgbClr val="F3E2DA"/>
          </a:solidFill>
          <a:ln/>
        </p:spPr>
      </p:sp>
      <p:sp>
        <p:nvSpPr>
          <p:cNvPr id="34" name="Text 32"/>
          <p:cNvSpPr/>
          <p:nvPr/>
        </p:nvSpPr>
        <p:spPr>
          <a:xfrm>
            <a:off x="10410444" y="2697480"/>
            <a:ext cx="1143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F3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Duck Roast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263640" y="3154680"/>
            <a:ext cx="754380" cy="365760"/>
          </a:xfrm>
          <a:prstGeom prst="roundRect">
            <a:avLst>
              <a:gd name="adj" fmla="val 50000"/>
            </a:avLst>
          </a:prstGeom>
          <a:solidFill>
            <a:srgbClr val="F3E2DA"/>
          </a:solidFill>
          <a:ln/>
        </p:spPr>
      </p:sp>
      <p:sp>
        <p:nvSpPr>
          <p:cNvPr id="36" name="Text 34"/>
          <p:cNvSpPr/>
          <p:nvPr/>
        </p:nvSpPr>
        <p:spPr>
          <a:xfrm>
            <a:off x="6263640" y="3154680"/>
            <a:ext cx="7543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F3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Avial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7127748" y="3154680"/>
            <a:ext cx="754380" cy="365760"/>
          </a:xfrm>
          <a:prstGeom prst="roundRect">
            <a:avLst>
              <a:gd name="adj" fmla="val 50000"/>
            </a:avLst>
          </a:prstGeom>
          <a:solidFill>
            <a:srgbClr val="F3E2DA"/>
          </a:solidFill>
          <a:ln/>
        </p:spPr>
      </p:sp>
      <p:sp>
        <p:nvSpPr>
          <p:cNvPr id="38" name="Text 36"/>
          <p:cNvSpPr/>
          <p:nvPr/>
        </p:nvSpPr>
        <p:spPr>
          <a:xfrm>
            <a:off x="7127748" y="3154680"/>
            <a:ext cx="7543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F3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Puttu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7991856" y="3154680"/>
            <a:ext cx="1298448" cy="365760"/>
          </a:xfrm>
          <a:prstGeom prst="roundRect">
            <a:avLst>
              <a:gd name="adj" fmla="val 50000"/>
            </a:avLst>
          </a:prstGeom>
          <a:solidFill>
            <a:srgbClr val="F3E2DA"/>
          </a:solidFill>
          <a:ln/>
        </p:spPr>
      </p:sp>
      <p:sp>
        <p:nvSpPr>
          <p:cNvPr id="40" name="Text 38"/>
          <p:cNvSpPr/>
          <p:nvPr/>
        </p:nvSpPr>
        <p:spPr>
          <a:xfrm>
            <a:off x="7991856" y="3154680"/>
            <a:ext cx="12984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F3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Kadala Curry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263640" y="365760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*Where legally permissible / for export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502920" y="5623560"/>
            <a:ext cx="11183112" cy="0"/>
          </a:xfrm>
          <a:prstGeom prst="line">
            <a:avLst/>
          </a:prstGeom>
          <a:noFill/>
          <a:ln w="12700">
            <a:solidFill>
              <a:srgbClr val="E4DCC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02920" y="5806440"/>
            <a:ext cx="111831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416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is not just a product portfolio. It is </a:t>
            </a:r>
            <a:pPr indent="0" marL="0">
              <a:buNone/>
            </a:pPr>
            <a:r>
              <a:rPr lang="en-US" sz="1800" b="1" dirty="0">
                <a:solidFill>
                  <a:srgbClr val="B85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cuisine platform.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85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pPr algn="l" indent="0" marL="0">
              <a:buNone/>
            </a:pPr>
            <a:r>
              <a:rPr lang="en-US" sz="900" dirty="0">
                <a:solidFill>
                  <a:srgbClr val="8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 of Regional Indian Cuisine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0317175" y="647395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7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/ 22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80F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1097280"/>
            <a:ext cx="5943600" cy="4114800"/>
          </a:xfrm>
          <a:prstGeom prst="rect">
            <a:avLst/>
          </a:prstGeom>
          <a:solidFill>
            <a:srgbClr val="B8532E">
              <a:alpha val="1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5120640"/>
            <a:ext cx="5029200" cy="3108960"/>
          </a:xfrm>
          <a:prstGeom prst="rect">
            <a:avLst/>
          </a:prstGeom>
          <a:solidFill>
            <a:srgbClr val="C9962B">
              <a:alpha val="11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853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REAL OPPORTUNITY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658368"/>
            <a:ext cx="90525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4E9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Don't think Ready-to-Eat. Think exporting Kerala to the world.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402775" y="40233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8F7B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— REFRAME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02920" y="1481328"/>
            <a:ext cx="11185855" cy="0"/>
          </a:xfrm>
          <a:prstGeom prst="line">
            <a:avLst/>
          </a:prstGeom>
          <a:noFill/>
          <a:ln w="12700">
            <a:solidFill>
              <a:srgbClr val="4A3A2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2194560"/>
            <a:ext cx="5349240" cy="1737360"/>
          </a:xfrm>
          <a:prstGeom prst="roundRect">
            <a:avLst>
              <a:gd name="adj" fmla="val 4737"/>
            </a:avLst>
          </a:prstGeom>
          <a:solidFill>
            <a:srgbClr val="2B1C13"/>
          </a:solidFill>
          <a:ln w="12700">
            <a:solidFill>
              <a:srgbClr val="4A3A2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37744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B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THINK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" y="2697480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200" dirty="0">
                <a:solidFill>
                  <a:srgbClr val="8F7B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“I am selling</a:t>
            </a:r>
            <a:endParaRPr lang="en-US" sz="2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200" dirty="0">
                <a:solidFill>
                  <a:srgbClr val="8F7B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Ready-to-Eat.”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6309360" y="2194560"/>
            <a:ext cx="5349240" cy="1737360"/>
          </a:xfrm>
          <a:prstGeom prst="roundRect">
            <a:avLst>
              <a:gd name="adj" fmla="val 4737"/>
            </a:avLst>
          </a:prstGeom>
          <a:solidFill>
            <a:srgbClr val="2B1C13"/>
          </a:solidFill>
          <a:ln w="12700">
            <a:solidFill>
              <a:srgbClr val="C9962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0" y="237744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9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583680" y="2697480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200" dirty="0">
                <a:solidFill>
                  <a:srgbClr val="C99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“I am exporting</a:t>
            </a:r>
            <a:endParaRPr lang="en-US" sz="2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200" dirty="0">
                <a:solidFill>
                  <a:srgbClr val="C99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Kerala to the world.”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502920" y="4297680"/>
            <a:ext cx="1733702" cy="384048"/>
          </a:xfrm>
          <a:prstGeom prst="roundRect">
            <a:avLst>
              <a:gd name="adj" fmla="val 50000"/>
            </a:avLst>
          </a:prstGeom>
          <a:solidFill>
            <a:srgbClr val="F5EAD3"/>
          </a:solidFill>
          <a:ln w="12700">
            <a:solidFill>
              <a:srgbClr val="D9C07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4297680"/>
            <a:ext cx="173370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3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FEWER COMPETITORS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373782" y="4297680"/>
            <a:ext cx="1492301" cy="384048"/>
          </a:xfrm>
          <a:prstGeom prst="roundRect">
            <a:avLst>
              <a:gd name="adj" fmla="val 50000"/>
            </a:avLst>
          </a:prstGeom>
          <a:solidFill>
            <a:srgbClr val="F5EAD3"/>
          </a:solidFill>
          <a:ln w="12700">
            <a:solidFill>
              <a:srgbClr val="D9C07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373782" y="4297680"/>
            <a:ext cx="1492301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3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BETTER PRICING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003243" y="4297680"/>
            <a:ext cx="1733702" cy="384048"/>
          </a:xfrm>
          <a:prstGeom prst="roundRect">
            <a:avLst>
              <a:gd name="adj" fmla="val 50000"/>
            </a:avLst>
          </a:prstGeom>
          <a:solidFill>
            <a:srgbClr val="F5EAD3"/>
          </a:solidFill>
          <a:ln w="12700">
            <a:solidFill>
              <a:srgbClr val="D9C07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003243" y="4297680"/>
            <a:ext cx="173370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3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STRONGER BRANDING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874106" y="4297680"/>
            <a:ext cx="2538374" cy="384048"/>
          </a:xfrm>
          <a:prstGeom prst="roundRect">
            <a:avLst>
              <a:gd name="adj" fmla="val 50000"/>
            </a:avLst>
          </a:prstGeom>
          <a:solidFill>
            <a:srgbClr val="F5EAD3"/>
          </a:solidFill>
          <a:ln w="12700">
            <a:solidFill>
              <a:srgbClr val="D9C07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874106" y="4297680"/>
            <a:ext cx="253837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3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EXPANDED EXPORT OPPORTUNITY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85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pPr algn="l" indent="0" marL="0">
              <a:buNone/>
            </a:pPr>
            <a:r>
              <a:rPr lang="en-US" sz="900" dirty="0">
                <a:solidFill>
                  <a:srgbClr val="8F7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 of Regional Indian Cuisine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317175" y="647395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7B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/ 22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853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MARKET SEGMENTATION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90525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dirty="0">
                <a:solidFill>
                  <a:srgbClr val="2416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Seven segments, one canonical product line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402775" y="40233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8C7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— SEGMENTS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02920" y="1481328"/>
            <a:ext cx="11185855" cy="0"/>
          </a:xfrm>
          <a:prstGeom prst="line">
            <a:avLst/>
          </a:prstGeom>
          <a:noFill/>
          <a:ln w="12700">
            <a:solidFill>
              <a:srgbClr val="E4DCC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828800"/>
            <a:ext cx="269748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E4DCCB"/>
            </a:solidFill>
            <a:prstDash val="solid"/>
          </a:ln>
          <a:effectLst>
            <a:outerShdw sx="100000" sy="100000" kx="0" ky="0" algn="bl" rotWithShape="0" blurRad="177800" dist="63500" dir="5400000">
              <a:srgbClr val="2B1C13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67512" y="1956816"/>
            <a:ext cx="236829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53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67512" y="2194560"/>
            <a:ext cx="23682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416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Urban Professionals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67512" y="2578608"/>
            <a:ext cx="2368296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8F3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opportunity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67512" y="2926080"/>
            <a:ext cx="236829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Breakfast · Lunch · Dinner · Late-night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337560" y="1828800"/>
            <a:ext cx="269748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E4DCCB"/>
            </a:solidFill>
            <a:prstDash val="solid"/>
          </a:ln>
          <a:effectLst>
            <a:outerShdw sx="100000" sy="100000" kx="0" ky="0" algn="bl" rotWithShape="0" blurRad="177800" dist="63500" dir="5400000">
              <a:srgbClr val="2B1C13">
                <a:alpha val="1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502152" y="1956816"/>
            <a:ext cx="236829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53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502152" y="2194560"/>
            <a:ext cx="23682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416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502152" y="2926080"/>
            <a:ext cx="236829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Affordable · Long shelf life · Microwave-friendly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172200" y="1828800"/>
            <a:ext cx="269748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E4DCCB"/>
            </a:solidFill>
            <a:prstDash val="solid"/>
          </a:ln>
          <a:effectLst>
            <a:outerShdw sx="100000" sy="100000" kx="0" ky="0" algn="bl" rotWithShape="0" blurRad="177800" dist="63500" dir="5400000">
              <a:srgbClr val="2B1C13">
                <a:alpha val="16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336792" y="1956816"/>
            <a:ext cx="236829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53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336792" y="2194560"/>
            <a:ext cx="23682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416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Fitness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336792" y="2578608"/>
            <a:ext cx="2368296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8F3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Hardly exists today — huge opportunity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336792" y="2926080"/>
            <a:ext cx="236829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Protein · Low carb · Jerky · Protein bowls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9006840" y="1828800"/>
            <a:ext cx="269748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E4DCCB"/>
            </a:solidFill>
            <a:prstDash val="solid"/>
          </a:ln>
          <a:effectLst>
            <a:outerShdw sx="100000" sy="100000" kx="0" ky="0" algn="bl" rotWithShape="0" blurRad="177800" dist="63500" dir="5400000">
              <a:srgbClr val="2B1C13">
                <a:alpha val="16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171432" y="1956816"/>
            <a:ext cx="236829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53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171432" y="2194560"/>
            <a:ext cx="23682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416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Senior Citizens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171432" y="2926080"/>
            <a:ext cx="236829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Home-style · Less spice · Small portions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02920" y="3566160"/>
            <a:ext cx="269748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E4DCCB"/>
            </a:solidFill>
            <a:prstDash val="solid"/>
          </a:ln>
          <a:effectLst>
            <a:outerShdw sx="100000" sy="100000" kx="0" ky="0" algn="bl" rotWithShape="0" blurRad="177800" dist="63500" dir="5400000">
              <a:srgbClr val="2B1C13">
                <a:alpha val="16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67512" y="3694176"/>
            <a:ext cx="236829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53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67512" y="3931920"/>
            <a:ext cx="23682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416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Travel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67512" y="4663440"/>
            <a:ext cx="236829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Railways · Airport retail · Highway retail · Hotels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337560" y="3566160"/>
            <a:ext cx="269748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E4DCCB"/>
            </a:solidFill>
            <a:prstDash val="solid"/>
          </a:ln>
          <a:effectLst>
            <a:outerShdw sx="100000" sy="100000" kx="0" ky="0" algn="bl" rotWithShape="0" blurRad="177800" dist="63500" dir="5400000">
              <a:srgbClr val="2B1C13">
                <a:alpha val="16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3502152" y="3694176"/>
            <a:ext cx="236829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53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502152" y="3931920"/>
            <a:ext cx="23682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416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Corporate Pantry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3502152" y="4315968"/>
            <a:ext cx="2368296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8F3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of the biggest B2B opportunities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172200" y="3566160"/>
            <a:ext cx="269748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E4DCCB"/>
            </a:solidFill>
            <a:prstDash val="solid"/>
          </a:ln>
          <a:effectLst>
            <a:outerShdw sx="100000" sy="100000" kx="0" ky="0" algn="bl" rotWithShape="0" blurRad="177800" dist="63500" dir="5400000">
              <a:srgbClr val="2B1C13">
                <a:alpha val="16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336792" y="3694176"/>
            <a:ext cx="236829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53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336792" y="3931920"/>
            <a:ext cx="23682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416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NRIs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6336792" y="4315968"/>
            <a:ext cx="2368296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8F3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Possibly the highest-margin segment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336792" y="4663440"/>
            <a:ext cx="236829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 East · UK · USA · Canada · Australia · Singapore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85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pPr algn="l" indent="0" marL="0">
              <a:buNone/>
            </a:pPr>
            <a:r>
              <a:rPr lang="en-US" sz="900" dirty="0">
                <a:solidFill>
                  <a:srgbClr val="8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 of Regional Indian Cuisine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317175" y="647395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7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/ 22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853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 STRATEGY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90525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dirty="0">
                <a:solidFill>
                  <a:srgbClr val="2416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 Hero Products. Not 60 SKUs.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402775" y="40233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8C7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 — PRODUCT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02920" y="1481328"/>
            <a:ext cx="11185855" cy="0"/>
          </a:xfrm>
          <a:prstGeom prst="line">
            <a:avLst/>
          </a:prstGeom>
          <a:noFill/>
          <a:ln w="12700">
            <a:solidFill>
              <a:srgbClr val="E4DCC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828800"/>
            <a:ext cx="2697480" cy="4114800"/>
          </a:xfrm>
          <a:prstGeom prst="roundRect">
            <a:avLst>
              <a:gd name="adj" fmla="val 3051"/>
            </a:avLst>
          </a:prstGeom>
          <a:solidFill>
            <a:srgbClr val="FFFFFF"/>
          </a:solidFill>
          <a:ln w="12700">
            <a:solidFill>
              <a:srgbClr val="E4DCCB"/>
            </a:solidFill>
            <a:prstDash val="solid"/>
          </a:ln>
          <a:effectLst>
            <a:outerShdw sx="100000" sy="100000" kx="0" ky="0" algn="bl" rotWithShape="0" blurRad="177800" dist="63500" dir="5400000">
              <a:srgbClr val="2B1C13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" y="2011680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53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RICE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2267712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416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Premium Rice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85800" y="274320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4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Ghee Rice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" y="3090672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4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Jeera Rice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37560" y="1828800"/>
            <a:ext cx="2697480" cy="4114800"/>
          </a:xfrm>
          <a:prstGeom prst="roundRect">
            <a:avLst>
              <a:gd name="adj" fmla="val 3051"/>
            </a:avLst>
          </a:prstGeom>
          <a:solidFill>
            <a:srgbClr val="FFFFFF"/>
          </a:solidFill>
          <a:ln w="12700">
            <a:solidFill>
              <a:srgbClr val="E4DCCB"/>
            </a:solidFill>
            <a:prstDash val="solid"/>
          </a:ln>
          <a:effectLst>
            <a:outerShdw sx="100000" sy="100000" kx="0" ky="0" algn="bl" rotWithShape="0" blurRad="177800" dist="63500" dir="5400000">
              <a:srgbClr val="2B1C13">
                <a:alpha val="1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520440" y="2011680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53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CURRIES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520440" y="2267712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416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Premium Curries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3520440" y="274320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4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Kerala Chicken Curry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520440" y="3090672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4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Malabar Chicken Curry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520440" y="3438144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4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Fish Curry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520440" y="3785616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4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Prawn Curry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520440" y="4133088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4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Chicken Roast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520440" y="448056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4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Mutton Curry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172200" y="1828800"/>
            <a:ext cx="2697480" cy="4114800"/>
          </a:xfrm>
          <a:prstGeom prst="roundRect">
            <a:avLst>
              <a:gd name="adj" fmla="val 3051"/>
            </a:avLst>
          </a:prstGeom>
          <a:solidFill>
            <a:srgbClr val="FFFFFF"/>
          </a:solidFill>
          <a:ln w="12700">
            <a:solidFill>
              <a:srgbClr val="E4DCCB"/>
            </a:solidFill>
            <a:prstDash val="solid"/>
          </a:ln>
          <a:effectLst>
            <a:outerShdw sx="100000" sy="100000" kx="0" ky="0" algn="bl" rotWithShape="0" blurRad="177800" dist="63500" dir="5400000">
              <a:srgbClr val="2B1C13">
                <a:alpha val="16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355080" y="2011680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53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VEG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355080" y="2267712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416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Vegetarian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355080" y="274320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4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Avial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355080" y="3090672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4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Vegetable Kurma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355080" y="3438144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4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Sambar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355080" y="3785616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4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Kadala Curry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9006840" y="1828800"/>
            <a:ext cx="2697480" cy="4114800"/>
          </a:xfrm>
          <a:prstGeom prst="roundRect">
            <a:avLst>
              <a:gd name="adj" fmla="val 3051"/>
            </a:avLst>
          </a:prstGeom>
          <a:solidFill>
            <a:srgbClr val="FFFFFF"/>
          </a:solidFill>
          <a:ln w="12700">
            <a:solidFill>
              <a:srgbClr val="E4DCCB"/>
            </a:solidFill>
            <a:prstDash val="solid"/>
          </a:ln>
          <a:effectLst>
            <a:outerShdw sx="100000" sy="100000" kx="0" ky="0" algn="bl" rotWithShape="0" blurRad="177800" dist="63500" dir="5400000">
              <a:srgbClr val="2B1C13">
                <a:alpha val="16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9189720" y="2011680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53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SNACKS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9189720" y="2267712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416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Premium Snacks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9189720" y="274320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4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Chicken Jerky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9189720" y="3090672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4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Fish Jerky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189720" y="3438144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4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Mushroom Jerky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9189720" y="3785616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4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Jackfruit Jerky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85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pPr algn="l" indent="0" marL="0">
              <a:buNone/>
            </a:pPr>
            <a:r>
              <a:rPr lang="en-US" sz="900" dirty="0">
                <a:solidFill>
                  <a:srgbClr val="8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 of Regional Indian Cuisine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317175" y="647395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7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 / 22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80F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1097280"/>
            <a:ext cx="5943600" cy="4114800"/>
          </a:xfrm>
          <a:prstGeom prst="rect">
            <a:avLst/>
          </a:prstGeom>
          <a:solidFill>
            <a:srgbClr val="B8532E">
              <a:alpha val="1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5120640"/>
            <a:ext cx="5029200" cy="3108960"/>
          </a:xfrm>
          <a:prstGeom prst="rect">
            <a:avLst/>
          </a:prstGeom>
          <a:solidFill>
            <a:srgbClr val="C9962B">
              <a:alpha val="11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853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JERKY MAY BECOME THE NEXT BIG CATEGORY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658368"/>
            <a:ext cx="90525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4E9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India has followed the West's protein curve — jerky is next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402775" y="40233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8F7B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— JERKY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02920" y="1481328"/>
            <a:ext cx="11185855" cy="0"/>
          </a:xfrm>
          <a:prstGeom prst="line">
            <a:avLst/>
          </a:prstGeom>
          <a:noFill/>
          <a:ln w="12700">
            <a:solidFill>
              <a:srgbClr val="4A3A2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965960"/>
            <a:ext cx="4846320" cy="502920"/>
          </a:xfrm>
          <a:prstGeom prst="roundRect">
            <a:avLst>
              <a:gd name="adj" fmla="val 16364"/>
            </a:avLst>
          </a:prstGeom>
          <a:solidFill>
            <a:srgbClr val="2B1C13"/>
          </a:solidFill>
          <a:ln w="12700">
            <a:solidFill>
              <a:srgbClr val="4A3A2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96596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E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Protein powders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754880" y="1965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853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2587752"/>
            <a:ext cx="4846320" cy="502920"/>
          </a:xfrm>
          <a:prstGeom prst="roundRect">
            <a:avLst>
              <a:gd name="adj" fmla="val 16364"/>
            </a:avLst>
          </a:prstGeom>
          <a:solidFill>
            <a:srgbClr val="2B1C13"/>
          </a:solidFill>
          <a:ln w="12700">
            <a:solidFill>
              <a:srgbClr val="4A3A2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587752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E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Protein bars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754880" y="25877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853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3209544"/>
            <a:ext cx="4846320" cy="502920"/>
          </a:xfrm>
          <a:prstGeom prst="roundRect">
            <a:avLst>
              <a:gd name="adj" fmla="val 16364"/>
            </a:avLst>
          </a:prstGeom>
          <a:solidFill>
            <a:srgbClr val="2B1C13"/>
          </a:solidFill>
          <a:ln w="12700">
            <a:solidFill>
              <a:srgbClr val="4A3A2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3209544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E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Protein cookies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754880" y="320954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853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920" y="3831336"/>
            <a:ext cx="4846320" cy="502920"/>
          </a:xfrm>
          <a:prstGeom prst="roundRect">
            <a:avLst>
              <a:gd name="adj" fmla="val 16364"/>
            </a:avLst>
          </a:prstGeom>
          <a:solidFill>
            <a:srgbClr val="2B1C13"/>
          </a:solidFill>
          <a:ln w="12700">
            <a:solidFill>
              <a:srgbClr val="4A3A2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3831336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E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Protein chips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754880" y="383133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853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02920" y="4453128"/>
            <a:ext cx="4846320" cy="566928"/>
          </a:xfrm>
          <a:prstGeom prst="roundRect">
            <a:avLst>
              <a:gd name="adj" fmla="val 14516"/>
            </a:avLst>
          </a:prstGeom>
          <a:solidFill>
            <a:srgbClr val="2B1C13"/>
          </a:solidFill>
          <a:ln w="12700">
            <a:solidFill>
              <a:srgbClr val="C9962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4453128"/>
            <a:ext cx="3657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9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High-Protein Meat &amp; Veg Snacks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754880" y="4453128"/>
            <a:ext cx="502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96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852160" y="1965960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8F7B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OPPORTUNITY ACROSS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852160" y="2331720"/>
            <a:ext cx="612648" cy="365760"/>
          </a:xfrm>
          <a:prstGeom prst="roundRect">
            <a:avLst>
              <a:gd name="adj" fmla="val 50000"/>
            </a:avLst>
          </a:prstGeom>
          <a:solidFill>
            <a:srgbClr val="2B1C13"/>
          </a:solidFill>
          <a:ln w="12700">
            <a:solidFill>
              <a:srgbClr val="4A3A2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852160" y="2331720"/>
            <a:ext cx="6126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B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Gym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574536" y="2331720"/>
            <a:ext cx="1106424" cy="365760"/>
          </a:xfrm>
          <a:prstGeom prst="roundRect">
            <a:avLst>
              <a:gd name="adj" fmla="val 50000"/>
            </a:avLst>
          </a:prstGeom>
          <a:solidFill>
            <a:srgbClr val="2B1C13"/>
          </a:solidFill>
          <a:ln w="12700">
            <a:solidFill>
              <a:srgbClr val="4A3A2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74536" y="2331720"/>
            <a:ext cx="11064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B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790688" y="2331720"/>
            <a:ext cx="859536" cy="365760"/>
          </a:xfrm>
          <a:prstGeom prst="roundRect">
            <a:avLst>
              <a:gd name="adj" fmla="val 50000"/>
            </a:avLst>
          </a:prstGeom>
          <a:solidFill>
            <a:srgbClr val="2B1C13"/>
          </a:solidFill>
          <a:ln w="12700">
            <a:solidFill>
              <a:srgbClr val="4A3A2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90688" y="2331720"/>
            <a:ext cx="8595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B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759952" y="2331720"/>
            <a:ext cx="1024128" cy="365760"/>
          </a:xfrm>
          <a:prstGeom prst="roundRect">
            <a:avLst>
              <a:gd name="adj" fmla="val 50000"/>
            </a:avLst>
          </a:prstGeom>
          <a:solidFill>
            <a:srgbClr val="2B1C13"/>
          </a:solidFill>
          <a:ln w="12700">
            <a:solidFill>
              <a:srgbClr val="4A3A2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759952" y="2331720"/>
            <a:ext cx="10241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B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Trekking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9893808" y="2331720"/>
            <a:ext cx="859536" cy="365760"/>
          </a:xfrm>
          <a:prstGeom prst="roundRect">
            <a:avLst>
              <a:gd name="adj" fmla="val 50000"/>
            </a:avLst>
          </a:prstGeom>
          <a:solidFill>
            <a:srgbClr val="2B1C13"/>
          </a:solidFill>
          <a:ln w="12700">
            <a:solidFill>
              <a:srgbClr val="4A3A2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893808" y="2331720"/>
            <a:ext cx="8595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B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852160" y="2770632"/>
            <a:ext cx="1024128" cy="365760"/>
          </a:xfrm>
          <a:prstGeom prst="roundRect">
            <a:avLst>
              <a:gd name="adj" fmla="val 50000"/>
            </a:avLst>
          </a:prstGeom>
          <a:solidFill>
            <a:srgbClr val="2B1C13"/>
          </a:solidFill>
          <a:ln w="12700">
            <a:solidFill>
              <a:srgbClr val="4A3A2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852160" y="2770632"/>
            <a:ext cx="10241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B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Military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986016" y="2770632"/>
            <a:ext cx="859536" cy="365760"/>
          </a:xfrm>
          <a:prstGeom prst="roundRect">
            <a:avLst>
              <a:gd name="adj" fmla="val 50000"/>
            </a:avLst>
          </a:prstGeom>
          <a:solidFill>
            <a:srgbClr val="2B1C13"/>
          </a:solidFill>
          <a:ln w="12700">
            <a:solidFill>
              <a:srgbClr val="4A3A2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986016" y="2770632"/>
            <a:ext cx="8595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B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7955280" y="2770632"/>
            <a:ext cx="941832" cy="365760"/>
          </a:xfrm>
          <a:prstGeom prst="roundRect">
            <a:avLst>
              <a:gd name="adj" fmla="val 50000"/>
            </a:avLst>
          </a:prstGeom>
          <a:solidFill>
            <a:srgbClr val="2B1C13"/>
          </a:solidFill>
          <a:ln w="12700">
            <a:solidFill>
              <a:srgbClr val="4A3A2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955280" y="2770632"/>
            <a:ext cx="9418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B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852160" y="3429000"/>
            <a:ext cx="5760720" cy="1828800"/>
          </a:xfrm>
          <a:prstGeom prst="roundRect">
            <a:avLst>
              <a:gd name="adj" fmla="val 4500"/>
            </a:avLst>
          </a:prstGeom>
          <a:solidFill>
            <a:srgbClr val="2B1C13"/>
          </a:solidFill>
          <a:ln w="12700">
            <a:solidFill>
              <a:srgbClr val="4A3A2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080760" y="3611880"/>
            <a:ext cx="53035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F4E9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executed correctly, jerky could become a </a:t>
            </a:r>
            <a:pPr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C99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₹500–1,000 crore category</a:t>
            </a:r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F4E9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over the next decade in India.
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8F7B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Conditional on sustained consumer education and cold-chain-free product innovation — a projection, not a guarantee.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85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pPr algn="l" indent="0" marL="0">
              <a:buNone/>
            </a:pPr>
            <a:r>
              <a:rPr lang="en-US" sz="900" dirty="0">
                <a:solidFill>
                  <a:srgbClr val="8F7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 of Regional Indian Cuisine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0317175" y="647395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7B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/ 22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853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MARKET ENTRY STRATEGY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90525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dirty="0">
                <a:solidFill>
                  <a:srgbClr val="2416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Own the South. Not India. Not yet.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402775" y="40233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8C7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— ENTRY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02920" y="1481328"/>
            <a:ext cx="11185855" cy="0"/>
          </a:xfrm>
          <a:prstGeom prst="line">
            <a:avLst/>
          </a:prstGeom>
          <a:noFill/>
          <a:ln w="12700">
            <a:solidFill>
              <a:srgbClr val="E4DCC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2011680"/>
            <a:ext cx="228600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4DCCB"/>
            </a:solidFill>
            <a:prstDash val="solid"/>
          </a:ln>
          <a:effectLst>
            <a:outerShdw sx="100000" sy="100000" kx="0" ky="0" algn="bl" rotWithShape="0" blurRad="177800" dist="63500" dir="5400000">
              <a:srgbClr val="2B1C13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2011680"/>
            <a:ext cx="2286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416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Kerala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926080" y="2011680"/>
            <a:ext cx="228600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4DCCB"/>
            </a:solidFill>
            <a:prstDash val="solid"/>
          </a:ln>
          <a:effectLst>
            <a:outerShdw sx="100000" sy="100000" kx="0" ky="0" algn="bl" rotWithShape="0" blurRad="177800" dist="63500" dir="5400000">
              <a:srgbClr val="2B1C13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926080" y="2011680"/>
            <a:ext cx="2286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416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Tamil Nadu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349240" y="2011680"/>
            <a:ext cx="228600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4DCCB"/>
            </a:solidFill>
            <a:prstDash val="solid"/>
          </a:ln>
          <a:effectLst>
            <a:outerShdw sx="100000" sy="100000" kx="0" ky="0" algn="bl" rotWithShape="0" blurRad="177800" dist="63500" dir="5400000">
              <a:srgbClr val="2B1C13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349240" y="2011680"/>
            <a:ext cx="2286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416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Karnataka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02920" y="3017520"/>
            <a:ext cx="228600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4DCCB"/>
            </a:solidFill>
            <a:prstDash val="solid"/>
          </a:ln>
          <a:effectLst>
            <a:outerShdw sx="100000" sy="100000" kx="0" ky="0" algn="bl" rotWithShape="0" blurRad="177800" dist="63500" dir="5400000">
              <a:srgbClr val="2B1C13">
                <a:alpha val="1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02920" y="3017520"/>
            <a:ext cx="2286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416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Telangana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2926080" y="3017520"/>
            <a:ext cx="228600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4DCCB"/>
            </a:solidFill>
            <a:prstDash val="solid"/>
          </a:ln>
          <a:effectLst>
            <a:outerShdw sx="100000" sy="100000" kx="0" ky="0" algn="bl" rotWithShape="0" blurRad="177800" dist="63500" dir="5400000">
              <a:srgbClr val="2B1C13">
                <a:alpha val="1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926080" y="3017520"/>
            <a:ext cx="2286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416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Hyderabad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349240" y="3017520"/>
            <a:ext cx="2286000" cy="868680"/>
          </a:xfrm>
          <a:prstGeom prst="roundRect">
            <a:avLst>
              <a:gd name="adj" fmla="val 9474"/>
            </a:avLst>
          </a:prstGeom>
          <a:solidFill>
            <a:srgbClr val="F3E2DA"/>
          </a:solidFill>
          <a:ln w="12700">
            <a:solidFill>
              <a:srgbClr val="D9B6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49240" y="3017520"/>
            <a:ext cx="2286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F3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Then move north →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229600" y="20116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8C7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START HERE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229600" y="24231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53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641080" y="242316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416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Consumers already understand the food.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229600" y="29260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53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641080" y="292608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416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of mouth grows faster.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229600" y="3429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53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641080" y="342900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416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authenticity develops.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85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pPr algn="l" indent="0" marL="0">
              <a:buNone/>
            </a:pPr>
            <a:r>
              <a:rPr lang="en-US" sz="900" dirty="0">
                <a:solidFill>
                  <a:srgbClr val="8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 of Regional Indian Cuisine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317175" y="647395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7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/ 22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853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GO-TO-MARKET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90525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dirty="0">
                <a:solidFill>
                  <a:srgbClr val="2416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phases, low commitment to high commitment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402775" y="40233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8C7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— GTM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02920" y="1481328"/>
            <a:ext cx="11185855" cy="0"/>
          </a:xfrm>
          <a:prstGeom prst="line">
            <a:avLst/>
          </a:prstGeom>
          <a:noFill/>
          <a:ln w="12700">
            <a:solidFill>
              <a:srgbClr val="E4DCC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2743200"/>
            <a:ext cx="2084832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E4DCCB"/>
            </a:solidFill>
            <a:prstDash val="solid"/>
          </a:ln>
          <a:effectLst>
            <a:outerShdw sx="100000" sy="100000" kx="0" ky="0" algn="bl" rotWithShape="0" blurRad="177800" dist="63500" dir="5400000">
              <a:srgbClr val="2B1C13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2880360"/>
            <a:ext cx="18105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53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PHASE 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3127248"/>
            <a:ext cx="1810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416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Digital First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3611880"/>
            <a:ext cx="181051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Website, Amazon, Flipkart, Zepto, Blinkit, Instamart, BigBasket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15768" y="2743200"/>
            <a:ext cx="2084832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E4DCCB"/>
            </a:solidFill>
            <a:prstDash val="solid"/>
          </a:ln>
          <a:effectLst>
            <a:outerShdw sx="100000" sy="100000" kx="0" ky="0" algn="bl" rotWithShape="0" blurRad="177800" dist="63500" dir="5400000">
              <a:srgbClr val="2B1C13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852928" y="2880360"/>
            <a:ext cx="18105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53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PHASE 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852928" y="3127248"/>
            <a:ext cx="1810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416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Modern Retail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852928" y="3611880"/>
            <a:ext cx="181051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Lulu, Reliance, Nature's Basket, More, Spencer's, DMart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928616" y="2743200"/>
            <a:ext cx="2084832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E4DCCB"/>
            </a:solidFill>
            <a:prstDash val="solid"/>
          </a:ln>
          <a:effectLst>
            <a:outerShdw sx="100000" sy="100000" kx="0" ky="0" algn="bl" rotWithShape="0" blurRad="177800" dist="63500" dir="5400000">
              <a:srgbClr val="2B1C13">
                <a:alpha val="1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065776" y="2880360"/>
            <a:ext cx="18105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53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PHASE 3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065776" y="3127248"/>
            <a:ext cx="1810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416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General Trade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065776" y="3611880"/>
            <a:ext cx="181051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Kirana, Regional Distributors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141464" y="2743200"/>
            <a:ext cx="2084832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E4DCCB"/>
            </a:solidFill>
            <a:prstDash val="solid"/>
          </a:ln>
          <a:effectLst>
            <a:outerShdw sx="100000" sy="100000" kx="0" ky="0" algn="bl" rotWithShape="0" blurRad="177800" dist="63500" dir="5400000">
              <a:srgbClr val="2B1C13">
                <a:alpha val="16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278624" y="2880360"/>
            <a:ext cx="18105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53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PHASE 4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278624" y="3127248"/>
            <a:ext cx="1810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416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Institutional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278624" y="3611880"/>
            <a:ext cx="181051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Hotels, Hospitals, Corporate, Airlines, Railways, Military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9354312" y="2743200"/>
            <a:ext cx="2084832" cy="1737360"/>
          </a:xfrm>
          <a:prstGeom prst="roundRect">
            <a:avLst>
              <a:gd name="adj" fmla="val 4737"/>
            </a:avLst>
          </a:prstGeom>
          <a:solidFill>
            <a:srgbClr val="F3E2DA"/>
          </a:solidFill>
          <a:ln w="12700">
            <a:solidFill>
              <a:srgbClr val="D9B6A6"/>
            </a:solidFill>
            <a:prstDash val="solid"/>
          </a:ln>
          <a:effectLst>
            <a:outerShdw sx="100000" sy="100000" kx="0" ky="0" algn="bl" rotWithShape="0" blurRad="177800" dist="63500" dir="5400000">
              <a:srgbClr val="2B1C13">
                <a:alpha val="16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9491472" y="2880360"/>
            <a:ext cx="18105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3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PHASE 5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9491472" y="3127248"/>
            <a:ext cx="1810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F3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Exports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491472" y="3611880"/>
            <a:ext cx="181051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F3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 East first, then USA, Canada, Australia, Europe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85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pPr algn="l" indent="0" marL="0">
              <a:buNone/>
            </a:pPr>
            <a:r>
              <a:rPr lang="en-US" sz="900" dirty="0">
                <a:solidFill>
                  <a:srgbClr val="8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 of Regional Indian Cuisine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317175" y="647395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7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/ 22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853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CHANNEL STRATEGY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90525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dirty="0">
                <a:solidFill>
                  <a:srgbClr val="2416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every channel plays the same role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402775" y="40233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8C7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— CHANNELS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02920" y="1481328"/>
            <a:ext cx="11185855" cy="0"/>
          </a:xfrm>
          <a:prstGeom prst="line">
            <a:avLst/>
          </a:prstGeom>
          <a:noFill/>
          <a:ln w="12700">
            <a:solidFill>
              <a:srgbClr val="E4DCC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2651760"/>
            <a:ext cx="269748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4DCCB"/>
            </a:solidFill>
            <a:prstDash val="solid"/>
          </a:ln>
          <a:effectLst>
            <a:outerShdw sx="100000" sy="100000" kx="0" ky="0" algn="bl" rotWithShape="0" blurRad="177800" dist="63500" dir="5400000">
              <a:srgbClr val="2B1C13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" y="283464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853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BRAND BUILDING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85800" y="3246120"/>
            <a:ext cx="1517904" cy="329184"/>
          </a:xfrm>
          <a:prstGeom prst="roundRect">
            <a:avLst>
              <a:gd name="adj" fmla="val 50000"/>
            </a:avLst>
          </a:prstGeom>
          <a:solidFill>
            <a:srgbClr val="F1EBE0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3246120"/>
            <a:ext cx="151790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4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Commerce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85800" y="3666744"/>
            <a:ext cx="859536" cy="329184"/>
          </a:xfrm>
          <a:prstGeom prst="roundRect">
            <a:avLst>
              <a:gd name="adj" fmla="val 50000"/>
            </a:avLst>
          </a:prstGeom>
          <a:solidFill>
            <a:srgbClr val="F1EBE0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3666744"/>
            <a:ext cx="8595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4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85800" y="4087368"/>
            <a:ext cx="1106424" cy="329184"/>
          </a:xfrm>
          <a:prstGeom prst="roundRect">
            <a:avLst>
              <a:gd name="adj" fmla="val 50000"/>
            </a:avLst>
          </a:prstGeom>
          <a:solidFill>
            <a:srgbClr val="F1EBE0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4087368"/>
            <a:ext cx="11064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4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85800" y="4507992"/>
            <a:ext cx="941832" cy="329184"/>
          </a:xfrm>
          <a:prstGeom prst="roundRect">
            <a:avLst>
              <a:gd name="adj" fmla="val 50000"/>
            </a:avLst>
          </a:prstGeom>
          <a:solidFill>
            <a:srgbClr val="F1EBE0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4507992"/>
            <a:ext cx="9418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4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337560" y="2651760"/>
            <a:ext cx="269748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4DCCB"/>
            </a:solidFill>
            <a:prstDash val="solid"/>
          </a:ln>
          <a:effectLst>
            <a:outerShdw sx="100000" sy="100000" kx="0" ky="0" algn="bl" rotWithShape="0" blurRad="177800" dist="63500" dir="5400000">
              <a:srgbClr val="2B1C13">
                <a:alpha val="1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520440" y="283464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853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REVENUE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520440" y="3246120"/>
            <a:ext cx="1353312" cy="329184"/>
          </a:xfrm>
          <a:prstGeom prst="roundRect">
            <a:avLst>
              <a:gd name="adj" fmla="val 50000"/>
            </a:avLst>
          </a:prstGeom>
          <a:solidFill>
            <a:srgbClr val="F1EBE0"/>
          </a:solidFill>
          <a:ln/>
        </p:spPr>
      </p:sp>
      <p:sp>
        <p:nvSpPr>
          <p:cNvPr id="19" name="Text 17"/>
          <p:cNvSpPr/>
          <p:nvPr/>
        </p:nvSpPr>
        <p:spPr>
          <a:xfrm>
            <a:off x="3520440" y="3246120"/>
            <a:ext cx="13533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4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Trade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172200" y="2651760"/>
            <a:ext cx="269748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4DCCB"/>
            </a:solidFill>
            <a:prstDash val="solid"/>
          </a:ln>
          <a:effectLst>
            <a:outerShdw sx="100000" sy="100000" kx="0" ky="0" algn="bl" rotWithShape="0" blurRad="177800" dist="63500" dir="5400000">
              <a:srgbClr val="2B1C13">
                <a:alpha val="16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355080" y="283464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853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VOLUME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355080" y="3246120"/>
            <a:ext cx="1435608" cy="329184"/>
          </a:xfrm>
          <a:prstGeom prst="roundRect">
            <a:avLst>
              <a:gd name="adj" fmla="val 50000"/>
            </a:avLst>
          </a:prstGeom>
          <a:solidFill>
            <a:srgbClr val="F1EBE0"/>
          </a:solidFill>
          <a:ln/>
        </p:spPr>
      </p:sp>
      <p:sp>
        <p:nvSpPr>
          <p:cNvPr id="23" name="Text 21"/>
          <p:cNvSpPr/>
          <p:nvPr/>
        </p:nvSpPr>
        <p:spPr>
          <a:xfrm>
            <a:off x="6355080" y="3246120"/>
            <a:ext cx="14356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4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Trade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9006840" y="2651760"/>
            <a:ext cx="2697480" cy="1828800"/>
          </a:xfrm>
          <a:prstGeom prst="roundRect">
            <a:avLst>
              <a:gd name="adj" fmla="val 4500"/>
            </a:avLst>
          </a:prstGeom>
          <a:solidFill>
            <a:srgbClr val="F3E2DA"/>
          </a:solidFill>
          <a:ln w="12700">
            <a:solidFill>
              <a:srgbClr val="D9B6A6"/>
            </a:solidFill>
            <a:prstDash val="solid"/>
          </a:ln>
          <a:effectLst>
            <a:outerShdw sx="100000" sy="100000" kx="0" ky="0" algn="bl" rotWithShape="0" blurRad="177800" dist="63500" dir="5400000">
              <a:srgbClr val="2B1C13">
                <a:alpha val="16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9189720" y="283464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F3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MARGIN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9189720" y="3246120"/>
            <a:ext cx="612648" cy="329184"/>
          </a:xfrm>
          <a:prstGeom prst="roundRect">
            <a:avLst>
              <a:gd name="adj" fmla="val 50000"/>
            </a:avLst>
          </a:prstGeom>
          <a:solidFill>
            <a:srgbClr val="F1EBE0"/>
          </a:solidFill>
          <a:ln/>
        </p:spPr>
      </p:sp>
      <p:sp>
        <p:nvSpPr>
          <p:cNvPr id="27" name="Text 25"/>
          <p:cNvSpPr/>
          <p:nvPr/>
        </p:nvSpPr>
        <p:spPr>
          <a:xfrm>
            <a:off x="9189720" y="3246120"/>
            <a:ext cx="6126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4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D2C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9189720" y="3666744"/>
            <a:ext cx="1106424" cy="329184"/>
          </a:xfrm>
          <a:prstGeom prst="roundRect">
            <a:avLst>
              <a:gd name="adj" fmla="val 50000"/>
            </a:avLst>
          </a:prstGeom>
          <a:solidFill>
            <a:srgbClr val="F1EBE0"/>
          </a:solidFill>
          <a:ln/>
        </p:spPr>
      </p:sp>
      <p:sp>
        <p:nvSpPr>
          <p:cNvPr id="29" name="Text 27"/>
          <p:cNvSpPr/>
          <p:nvPr/>
        </p:nvSpPr>
        <p:spPr>
          <a:xfrm>
            <a:off x="9189720" y="3666744"/>
            <a:ext cx="11064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4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9189720" y="4087368"/>
            <a:ext cx="941832" cy="329184"/>
          </a:xfrm>
          <a:prstGeom prst="roundRect">
            <a:avLst>
              <a:gd name="adj" fmla="val 50000"/>
            </a:avLst>
          </a:prstGeom>
          <a:solidFill>
            <a:srgbClr val="F1EBE0"/>
          </a:solidFill>
          <a:ln/>
        </p:spPr>
      </p:sp>
      <p:sp>
        <p:nvSpPr>
          <p:cNvPr id="31" name="Text 29"/>
          <p:cNvSpPr/>
          <p:nvPr/>
        </p:nvSpPr>
        <p:spPr>
          <a:xfrm>
            <a:off x="9189720" y="4087368"/>
            <a:ext cx="9418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4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85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pPr algn="l" indent="0" marL="0">
              <a:buNone/>
            </a:pPr>
            <a:r>
              <a:rPr lang="en-US" sz="900" dirty="0">
                <a:solidFill>
                  <a:srgbClr val="8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 of Regional Indian Cuisine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0317175" y="647395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7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/ 22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80F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1097280"/>
            <a:ext cx="5943600" cy="4114800"/>
          </a:xfrm>
          <a:prstGeom prst="rect">
            <a:avLst/>
          </a:prstGeom>
          <a:solidFill>
            <a:srgbClr val="B8532E">
              <a:alpha val="1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5120640"/>
            <a:ext cx="5029200" cy="3108960"/>
          </a:xfrm>
          <a:prstGeom prst="rect">
            <a:avLst/>
          </a:prstGeom>
          <a:solidFill>
            <a:srgbClr val="C9962B">
              <a:alpha val="11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457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853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BRAND STRATEGY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737360" y="1005840"/>
            <a:ext cx="4114800" cy="1234440"/>
          </a:xfrm>
          <a:prstGeom prst="roundRect">
            <a:avLst>
              <a:gd name="adj" fmla="val 6667"/>
            </a:avLst>
          </a:prstGeom>
          <a:solidFill>
            <a:srgbClr val="2B1C13"/>
          </a:solidFill>
          <a:ln w="12700">
            <a:solidFill>
              <a:srgbClr val="4A3A2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737360" y="11430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B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BECOME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737360" y="1463040"/>
            <a:ext cx="4114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8F7B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Ready to Eat Company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309360" y="1005840"/>
            <a:ext cx="4114800" cy="1234440"/>
          </a:xfrm>
          <a:prstGeom prst="roundRect">
            <a:avLst>
              <a:gd name="adj" fmla="val 6667"/>
            </a:avLst>
          </a:prstGeom>
          <a:solidFill>
            <a:srgbClr val="2B1C13"/>
          </a:solidFill>
          <a:ln w="12700">
            <a:solidFill>
              <a:srgbClr val="C996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0" y="11430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9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BECOME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309360" y="1463040"/>
            <a:ext cx="4114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C99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India's Premium Kerala Kitchen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371600" y="2743200"/>
            <a:ext cx="941832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3200" i="1" dirty="0">
                <a:solidFill>
                  <a:srgbClr val="F4E9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“Restaurant Quality.
</a:t>
            </a:r>
            <a:pPr algn="ctr" indent="0" marL="0">
              <a:lnSpc>
                <a:spcPct val="125000"/>
              </a:lnSpc>
              <a:buNone/>
            </a:pPr>
            <a:r>
              <a:rPr lang="en-US" sz="3200" i="1" dirty="0">
                <a:solidFill>
                  <a:srgbClr val="F4E9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Grandmother's Taste.
</a:t>
            </a:r>
            <a:pPr algn="ctr" indent="0" marL="0">
              <a:lnSpc>
                <a:spcPct val="125000"/>
              </a:lnSpc>
              <a:buNone/>
            </a:pPr>
            <a:r>
              <a:rPr lang="en-US" sz="3200" b="1" dirty="0">
                <a:solidFill>
                  <a:srgbClr val="C99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Ready in 90 Seconds.”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1371600" y="4892040"/>
            <a:ext cx="9418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F7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Consumers remember stories. Not technology.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85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pPr algn="l" indent="0" marL="0">
              <a:buNone/>
            </a:pPr>
            <a:r>
              <a:rPr lang="en-US" sz="900" dirty="0">
                <a:solidFill>
                  <a:srgbClr val="8F7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 of Regional Indian Cuisine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317175" y="647395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7B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 / 22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853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MARKETING CAMPAIGN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90525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dirty="0">
                <a:solidFill>
                  <a:srgbClr val="2416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curiosity to community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402775" y="40233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8C7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— MARKETING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02920" y="1481328"/>
            <a:ext cx="11185855" cy="0"/>
          </a:xfrm>
          <a:prstGeom prst="line">
            <a:avLst/>
          </a:prstGeom>
          <a:noFill/>
          <a:ln w="12700">
            <a:solidFill>
              <a:srgbClr val="E4DCC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2743200"/>
            <a:ext cx="2084832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E4DCCB"/>
            </a:solidFill>
            <a:prstDash val="solid"/>
          </a:ln>
          <a:effectLst>
            <a:outerShdw sx="100000" sy="100000" kx="0" ky="0" algn="bl" rotWithShape="0" blurRad="177800" dist="63500" dir="5400000">
              <a:srgbClr val="2B1C13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2880360"/>
            <a:ext cx="1810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53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— CURIOSITY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40080" y="3200400"/>
            <a:ext cx="1810512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2416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“Can packaged food actually taste homemade?”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715768" y="2743200"/>
            <a:ext cx="2084832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E4DCCB"/>
            </a:solidFill>
            <a:prstDash val="solid"/>
          </a:ln>
          <a:effectLst>
            <a:outerShdw sx="100000" sy="100000" kx="0" ky="0" algn="bl" rotWithShape="0" blurRad="177800" dist="63500" dir="5400000">
              <a:srgbClr val="2B1C13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852928" y="2880360"/>
            <a:ext cx="1810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53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— TASTE CHALLENGE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852928" y="3200400"/>
            <a:ext cx="1810512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2416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Blind tasting: restaurant vs. brand, filmed reactions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928616" y="2743200"/>
            <a:ext cx="2084832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E4DCCB"/>
            </a:solidFill>
            <a:prstDash val="solid"/>
          </a:ln>
          <a:effectLst>
            <a:outerShdw sx="100000" sy="100000" kx="0" ky="0" algn="bl" rotWithShape="0" blurRad="177800" dist="63500" dir="5400000">
              <a:srgbClr val="2B1C13">
                <a:alpha val="1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065776" y="2880360"/>
            <a:ext cx="1810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53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— STORYTELLING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5065776" y="3200400"/>
            <a:ext cx="1810512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2416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recipe has a grandmother, a village, a story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141464" y="2743200"/>
            <a:ext cx="2084832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E4DCCB"/>
            </a:solidFill>
            <a:prstDash val="solid"/>
          </a:ln>
          <a:effectLst>
            <a:outerShdw sx="100000" sy="100000" kx="0" ky="0" algn="bl" rotWithShape="0" blurRad="177800" dist="63500" dir="5400000">
              <a:srgbClr val="2B1C13">
                <a:alpha val="16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278624" y="2880360"/>
            <a:ext cx="1810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53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— INFLUENCERS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7278624" y="3200400"/>
            <a:ext cx="1810512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16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Food, Fitness, Travel, Doctors, Mothers, Chefs, Malayalam Cinema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9354312" y="2743200"/>
            <a:ext cx="2084832" cy="1737360"/>
          </a:xfrm>
          <a:prstGeom prst="roundRect">
            <a:avLst>
              <a:gd name="adj" fmla="val 4737"/>
            </a:avLst>
          </a:prstGeom>
          <a:solidFill>
            <a:srgbClr val="F3E2DA"/>
          </a:solidFill>
          <a:ln w="12700">
            <a:solidFill>
              <a:srgbClr val="D9B6A6"/>
            </a:solidFill>
            <a:prstDash val="solid"/>
          </a:ln>
          <a:effectLst>
            <a:outerShdw sx="100000" sy="100000" kx="0" ky="0" algn="bl" rotWithShape="0" blurRad="177800" dist="63500" dir="5400000">
              <a:srgbClr val="2B1C13">
                <a:alpha val="16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491472" y="2880360"/>
            <a:ext cx="1810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3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— COMMUNITY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9491472" y="3200400"/>
            <a:ext cx="1810512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F3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Recipe club, cooking stories, customer videos, regional festivals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85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pPr algn="l" indent="0" marL="0">
              <a:buNone/>
            </a:pPr>
            <a:r>
              <a:rPr lang="en-US" sz="900" dirty="0">
                <a:solidFill>
                  <a:srgbClr val="8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 of Regional Indian Cuisine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317175" y="647395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7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/ 22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853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OPERATIONAL MODEL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90525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dirty="0">
                <a:solidFill>
                  <a:srgbClr val="2416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Own the brand. Rent the rest — for now.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402775" y="40233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8C7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 — OPERATIONS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02920" y="1481328"/>
            <a:ext cx="11185855" cy="0"/>
          </a:xfrm>
          <a:prstGeom prst="line">
            <a:avLst/>
          </a:prstGeom>
          <a:noFill/>
          <a:ln w="12700">
            <a:solidFill>
              <a:srgbClr val="E4DCC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2651760"/>
            <a:ext cx="361188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E4DCCB"/>
            </a:solidFill>
            <a:prstDash val="solid"/>
          </a:ln>
          <a:effectLst>
            <a:outerShdw sx="100000" sy="100000" kx="0" ky="0" algn="bl" rotWithShape="0" blurRad="177800" dist="63500" dir="5400000">
              <a:srgbClr val="2B1C13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1520" y="2834640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53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MANUFACTURING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3127248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416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Contract manufacturing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31520" y="3611880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Initially. Never build a factory first.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297680" y="2651760"/>
            <a:ext cx="361188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E4DCCB"/>
            </a:solidFill>
            <a:prstDash val="solid"/>
          </a:ln>
          <a:effectLst>
            <a:outerShdw sx="100000" sy="100000" kx="0" ky="0" algn="bl" rotWithShape="0" blurRad="177800" dist="63500" dir="5400000">
              <a:srgbClr val="2B1C13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26280" y="2834640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53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QUALITY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26280" y="3127248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416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your own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4526280" y="3611880"/>
            <a:ext cx="1074420" cy="310896"/>
          </a:xfrm>
          <a:prstGeom prst="roundRect">
            <a:avLst>
              <a:gd name="adj" fmla="val 50000"/>
            </a:avLst>
          </a:prstGeom>
          <a:solidFill>
            <a:srgbClr val="F1EBE0"/>
          </a:solidFill>
          <a:ln/>
        </p:spPr>
      </p:sp>
      <p:sp>
        <p:nvSpPr>
          <p:cNvPr id="14" name="Text 12"/>
          <p:cNvSpPr/>
          <p:nvPr/>
        </p:nvSpPr>
        <p:spPr>
          <a:xfrm>
            <a:off x="4526280" y="3611880"/>
            <a:ext cx="10744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4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R&amp;D Kitchen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692140" y="3611880"/>
            <a:ext cx="1005840" cy="310896"/>
          </a:xfrm>
          <a:prstGeom prst="roundRect">
            <a:avLst>
              <a:gd name="adj" fmla="val 50000"/>
            </a:avLst>
          </a:prstGeom>
          <a:solidFill>
            <a:srgbClr val="F1EBE0"/>
          </a:solidFill>
          <a:ln/>
        </p:spPr>
      </p:sp>
      <p:sp>
        <p:nvSpPr>
          <p:cNvPr id="16" name="Text 14"/>
          <p:cNvSpPr/>
          <p:nvPr/>
        </p:nvSpPr>
        <p:spPr>
          <a:xfrm>
            <a:off x="5692140" y="3611880"/>
            <a:ext cx="1005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4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Recipe Lab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26280" y="3995928"/>
            <a:ext cx="1143000" cy="310896"/>
          </a:xfrm>
          <a:prstGeom prst="roundRect">
            <a:avLst>
              <a:gd name="adj" fmla="val 50000"/>
            </a:avLst>
          </a:prstGeom>
          <a:solidFill>
            <a:srgbClr val="F1EBE0"/>
          </a:solidFill>
          <a:ln/>
        </p:spPr>
      </p:sp>
      <p:sp>
        <p:nvSpPr>
          <p:cNvPr id="18" name="Text 16"/>
          <p:cNvSpPr/>
          <p:nvPr/>
        </p:nvSpPr>
        <p:spPr>
          <a:xfrm>
            <a:off x="4526280" y="3995928"/>
            <a:ext cx="1143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4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Testing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760720" y="3995928"/>
            <a:ext cx="800100" cy="310896"/>
          </a:xfrm>
          <a:prstGeom prst="roundRect">
            <a:avLst>
              <a:gd name="adj" fmla="val 50000"/>
            </a:avLst>
          </a:prstGeom>
          <a:solidFill>
            <a:srgbClr val="F1EBE0"/>
          </a:solidFill>
          <a:ln/>
        </p:spPr>
      </p:sp>
      <p:sp>
        <p:nvSpPr>
          <p:cNvPr id="20" name="Text 18"/>
          <p:cNvSpPr/>
          <p:nvPr/>
        </p:nvSpPr>
        <p:spPr>
          <a:xfrm>
            <a:off x="5760720" y="3995928"/>
            <a:ext cx="8001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4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Team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8092440" y="2651760"/>
            <a:ext cx="361188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E4DCCB"/>
            </a:solidFill>
            <a:prstDash val="solid"/>
          </a:ln>
          <a:effectLst>
            <a:outerShdw sx="100000" sy="100000" kx="0" ky="0" algn="bl" rotWithShape="0" blurRad="177800" dist="63500" dir="5400000">
              <a:srgbClr val="2B1C13">
                <a:alpha val="16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321040" y="2834640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53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DISTRIBUTION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321040" y="3127248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416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Third-party logistics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8321040" y="3611880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only brand, recipes, and the customer relationship.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85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pPr algn="l" indent="0" marL="0">
              <a:buNone/>
            </a:pPr>
            <a:r>
              <a:rPr lang="en-US" sz="900" dirty="0">
                <a:solidFill>
                  <a:srgbClr val="8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 of Regional Indian Cuisine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317175" y="647395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7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 / 22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853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FIRST 12-MONTH EXECUTION ROADMAP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90525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2416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Months 1–4: Foundation, then product &amp; compliance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402775" y="40233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8C7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 — ROADMAP 1/2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02920" y="1481328"/>
            <a:ext cx="11185855" cy="0"/>
          </a:xfrm>
          <a:prstGeom prst="line">
            <a:avLst/>
          </a:prstGeom>
          <a:noFill/>
          <a:ln w="12700">
            <a:solidFill>
              <a:srgbClr val="E4DCC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828800"/>
            <a:ext cx="5440680" cy="4114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4DCCB"/>
            </a:solidFill>
            <a:prstDash val="solid"/>
          </a:ln>
          <a:effectLst>
            <a:outerShdw sx="100000" sy="100000" kx="0" ky="0" algn="bl" rotWithShape="0" blurRad="177800" dist="63500" dir="5400000">
              <a:srgbClr val="2B1C13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2011680"/>
            <a:ext cx="3639312" cy="365760"/>
          </a:xfrm>
          <a:prstGeom prst="roundRect">
            <a:avLst>
              <a:gd name="adj" fmla="val 50000"/>
            </a:avLst>
          </a:prstGeom>
          <a:solidFill>
            <a:srgbClr val="F3E2DA"/>
          </a:solidFill>
          <a:ln w="12700">
            <a:solidFill>
              <a:srgbClr val="D9B6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011680"/>
            <a:ext cx="36393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F3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MONTHS 1–2 — FOUNDATION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31520" y="2542032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7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OBJECTIVES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31520" y="2816352"/>
            <a:ext cx="493776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416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Validate market demand in Kerala, Bengaluru, Chennai, Hyderabad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3218688"/>
            <a:ext cx="493776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416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Conduct consumer taste panels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3621024"/>
            <a:ext cx="493776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416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Select contract manufacturer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4023360"/>
            <a:ext cx="493776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416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Finalize recipes, packaging, brand identity, pricing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4498848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7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DELIVERABLES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31520" y="4791456"/>
            <a:ext cx="1130198" cy="292608"/>
          </a:xfrm>
          <a:prstGeom prst="roundRect">
            <a:avLst>
              <a:gd name="adj" fmla="val 50000"/>
            </a:avLst>
          </a:prstGeom>
          <a:solidFill>
            <a:srgbClr val="F1EBE0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4791456"/>
            <a:ext cx="113019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4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plan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953158" y="4791456"/>
            <a:ext cx="1261872" cy="292608"/>
          </a:xfrm>
          <a:prstGeom prst="roundRect">
            <a:avLst>
              <a:gd name="adj" fmla="val 50000"/>
            </a:avLst>
          </a:prstGeom>
          <a:solidFill>
            <a:srgbClr val="F1EBE0"/>
          </a:solidFill>
          <a:ln/>
        </p:spPr>
      </p:sp>
      <p:sp>
        <p:nvSpPr>
          <p:cNvPr id="18" name="Text 16"/>
          <p:cNvSpPr/>
          <p:nvPr/>
        </p:nvSpPr>
        <p:spPr>
          <a:xfrm>
            <a:off x="1953158" y="4791456"/>
            <a:ext cx="1261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4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roadmap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306470" y="4791456"/>
            <a:ext cx="1788566" cy="292608"/>
          </a:xfrm>
          <a:prstGeom prst="roundRect">
            <a:avLst>
              <a:gd name="adj" fmla="val 50000"/>
            </a:avLst>
          </a:prstGeom>
          <a:solidFill>
            <a:srgbClr val="F1EBE0"/>
          </a:solidFill>
          <a:ln/>
        </p:spPr>
      </p:sp>
      <p:sp>
        <p:nvSpPr>
          <p:cNvPr id="20" name="Text 18"/>
          <p:cNvSpPr/>
          <p:nvPr/>
        </p:nvSpPr>
        <p:spPr>
          <a:xfrm>
            <a:off x="3306470" y="4791456"/>
            <a:ext cx="178856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4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 agreement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31520" y="5157216"/>
            <a:ext cx="1261872" cy="292608"/>
          </a:xfrm>
          <a:prstGeom prst="roundRect">
            <a:avLst>
              <a:gd name="adj" fmla="val 50000"/>
            </a:avLst>
          </a:prstGeom>
          <a:solidFill>
            <a:srgbClr val="F1EBE0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5157216"/>
            <a:ext cx="1261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4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model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245352" y="1828800"/>
            <a:ext cx="5440680" cy="4114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4DCCB"/>
            </a:solidFill>
            <a:prstDash val="solid"/>
          </a:ln>
          <a:effectLst>
            <a:outerShdw sx="100000" sy="100000" kx="0" ky="0" algn="bl" rotWithShape="0" blurRad="177800" dist="63500" dir="5400000">
              <a:srgbClr val="2B1C13">
                <a:alpha val="16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473952" y="2011680"/>
            <a:ext cx="4187952" cy="365760"/>
          </a:xfrm>
          <a:prstGeom prst="roundRect">
            <a:avLst>
              <a:gd name="adj" fmla="val 50000"/>
            </a:avLst>
          </a:prstGeom>
          <a:solidFill>
            <a:srgbClr val="F3E2DA"/>
          </a:solidFill>
          <a:ln w="12700">
            <a:solidFill>
              <a:srgbClr val="D9B6A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73952" y="2011680"/>
            <a:ext cx="4187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F3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MONTHS 3–4 — PRODUCT &amp; COMPLIANCE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473952" y="2542032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7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OBJECTIVES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473952" y="2816352"/>
            <a:ext cx="493776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416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Pilot production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73952" y="3218688"/>
            <a:ext cx="493776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416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Shelf-life validation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473952" y="3621024"/>
            <a:ext cx="493776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416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FSSAI and packaging compliance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473952" y="4023360"/>
            <a:ext cx="493776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416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Build website and e-commerce infrastructure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473952" y="4498848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7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KPIS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473952" y="4791456"/>
            <a:ext cx="1788566" cy="292608"/>
          </a:xfrm>
          <a:prstGeom prst="roundRect">
            <a:avLst>
              <a:gd name="adj" fmla="val 50000"/>
            </a:avLst>
          </a:prstGeom>
          <a:solidFill>
            <a:srgbClr val="F1EBE0"/>
          </a:solidFill>
          <a:ln/>
        </p:spPr>
      </p:sp>
      <p:sp>
        <p:nvSpPr>
          <p:cNvPr id="33" name="Text 31"/>
          <p:cNvSpPr/>
          <p:nvPr/>
        </p:nvSpPr>
        <p:spPr>
          <a:xfrm>
            <a:off x="6473952" y="4791456"/>
            <a:ext cx="178856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4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10–12 launch-ready SKUs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8353958" y="4791456"/>
            <a:ext cx="1920240" cy="292608"/>
          </a:xfrm>
          <a:prstGeom prst="roundRect">
            <a:avLst>
              <a:gd name="adj" fmla="val 50000"/>
            </a:avLst>
          </a:prstGeom>
          <a:solidFill>
            <a:srgbClr val="F1EBE0"/>
          </a:solidFill>
          <a:ln/>
        </p:spPr>
      </p:sp>
      <p:sp>
        <p:nvSpPr>
          <p:cNvPr id="35" name="Text 33"/>
          <p:cNvSpPr/>
          <p:nvPr/>
        </p:nvSpPr>
        <p:spPr>
          <a:xfrm>
            <a:off x="8353958" y="4791456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4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production process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473952" y="5157216"/>
            <a:ext cx="1920240" cy="292608"/>
          </a:xfrm>
          <a:prstGeom prst="roundRect">
            <a:avLst>
              <a:gd name="adj" fmla="val 50000"/>
            </a:avLst>
          </a:prstGeom>
          <a:solidFill>
            <a:srgbClr val="F1EBE0"/>
          </a:solidFill>
          <a:ln/>
        </p:spPr>
      </p:sp>
      <p:sp>
        <p:nvSpPr>
          <p:cNvPr id="37" name="Text 35"/>
          <p:cNvSpPr/>
          <p:nvPr/>
        </p:nvSpPr>
        <p:spPr>
          <a:xfrm>
            <a:off x="6473952" y="5157216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4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sensory feedback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85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pPr algn="l" indent="0" marL="0">
              <a:buNone/>
            </a:pPr>
            <a:r>
              <a:rPr lang="en-US" sz="900" dirty="0">
                <a:solidFill>
                  <a:srgbClr val="8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 of Regional Indian Cuisine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0317175" y="647395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7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 / 22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853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FIRST 12-MONTH EXECUTION ROADMAP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90525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2416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Months 5–12: Launch, scale, institutional readiness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402775" y="40233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8C7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 — ROADMAP 2/2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02920" y="1481328"/>
            <a:ext cx="11185855" cy="0"/>
          </a:xfrm>
          <a:prstGeom prst="line">
            <a:avLst/>
          </a:prstGeom>
          <a:noFill/>
          <a:ln w="12700">
            <a:solidFill>
              <a:srgbClr val="E4DCC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828800"/>
            <a:ext cx="3611880" cy="4114800"/>
          </a:xfrm>
          <a:prstGeom prst="roundRect">
            <a:avLst>
              <a:gd name="adj" fmla="val 2278"/>
            </a:avLst>
          </a:prstGeom>
          <a:solidFill>
            <a:srgbClr val="FFFFFF"/>
          </a:solidFill>
          <a:ln w="12700">
            <a:solidFill>
              <a:srgbClr val="E4DCCB"/>
            </a:solidFill>
            <a:prstDash val="solid"/>
          </a:ln>
          <a:effectLst>
            <a:outerShdw sx="100000" sy="100000" kx="0" ky="0" algn="bl" rotWithShape="0" blurRad="177800" dist="63500" dir="5400000">
              <a:srgbClr val="2B1C13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04088" y="2011680"/>
            <a:ext cx="32095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53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MONTHS 5–6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04088" y="2286000"/>
            <a:ext cx="320954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416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Controlled Launch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04088" y="3017520"/>
            <a:ext cx="3209544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Kochi, Bengaluru, Chennai · D2C, Amazon, Quick Commerce, premium retail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04088" y="4069080"/>
            <a:ext cx="1580083" cy="301752"/>
          </a:xfrm>
          <a:prstGeom prst="roundRect">
            <a:avLst>
              <a:gd name="adj" fmla="val 48485"/>
            </a:avLst>
          </a:prstGeom>
          <a:solidFill>
            <a:srgbClr val="F1EBE0"/>
          </a:solidFill>
          <a:ln/>
        </p:spPr>
      </p:sp>
      <p:sp>
        <p:nvSpPr>
          <p:cNvPr id="11" name="Text 9"/>
          <p:cNvSpPr/>
          <p:nvPr/>
        </p:nvSpPr>
        <p:spPr>
          <a:xfrm>
            <a:off x="704088" y="4069080"/>
            <a:ext cx="1580083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4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5–10k trial customers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375611" y="4069080"/>
            <a:ext cx="958291" cy="301752"/>
          </a:xfrm>
          <a:prstGeom prst="roundRect">
            <a:avLst>
              <a:gd name="adj" fmla="val 48485"/>
            </a:avLst>
          </a:prstGeom>
          <a:solidFill>
            <a:srgbClr val="F1EBE0"/>
          </a:solidFill>
          <a:ln/>
        </p:spPr>
      </p:sp>
      <p:sp>
        <p:nvSpPr>
          <p:cNvPr id="13" name="Text 11"/>
          <p:cNvSpPr/>
          <p:nvPr/>
        </p:nvSpPr>
        <p:spPr>
          <a:xfrm>
            <a:off x="2375611" y="4069080"/>
            <a:ext cx="958291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4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&gt;25% repeat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04088" y="4434840"/>
            <a:ext cx="1082650" cy="301752"/>
          </a:xfrm>
          <a:prstGeom prst="roundRect">
            <a:avLst>
              <a:gd name="adj" fmla="val 48485"/>
            </a:avLst>
          </a:prstGeom>
          <a:solidFill>
            <a:srgbClr val="F1EBE0"/>
          </a:solidFill>
          <a:ln/>
        </p:spPr>
      </p:sp>
      <p:sp>
        <p:nvSpPr>
          <p:cNvPr id="15" name="Text 13"/>
          <p:cNvSpPr/>
          <p:nvPr/>
        </p:nvSpPr>
        <p:spPr>
          <a:xfrm>
            <a:off x="704088" y="4434840"/>
            <a:ext cx="108265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4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&gt;4.3/5 rating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297680" y="1828800"/>
            <a:ext cx="3611880" cy="4114800"/>
          </a:xfrm>
          <a:prstGeom prst="roundRect">
            <a:avLst>
              <a:gd name="adj" fmla="val 2278"/>
            </a:avLst>
          </a:prstGeom>
          <a:solidFill>
            <a:srgbClr val="FFFFFF"/>
          </a:solidFill>
          <a:ln w="12700">
            <a:solidFill>
              <a:srgbClr val="E4DCCB"/>
            </a:solidFill>
            <a:prstDash val="solid"/>
          </a:ln>
          <a:effectLst>
            <a:outerShdw sx="100000" sy="100000" kx="0" ky="0" algn="bl" rotWithShape="0" blurRad="177800" dist="63500" dir="5400000">
              <a:srgbClr val="2B1C13">
                <a:alpha val="1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498848" y="2011680"/>
            <a:ext cx="32095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53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MONTHS 7–9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498848" y="2286000"/>
            <a:ext cx="320954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416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Scale Across South India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498848" y="3017520"/>
            <a:ext cx="3209544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Hyderabad, Coimbatore, Trivandrum, Mangalore · modern trade, distributors, corporate, HoReCa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498848" y="4069080"/>
            <a:ext cx="1953158" cy="301752"/>
          </a:xfrm>
          <a:prstGeom prst="roundRect">
            <a:avLst>
              <a:gd name="adj" fmla="val 48485"/>
            </a:avLst>
          </a:prstGeom>
          <a:solidFill>
            <a:srgbClr val="F1EBE0"/>
          </a:solidFill>
          <a:ln/>
        </p:spPr>
      </p:sp>
      <p:sp>
        <p:nvSpPr>
          <p:cNvPr id="21" name="Text 19"/>
          <p:cNvSpPr/>
          <p:nvPr/>
        </p:nvSpPr>
        <p:spPr>
          <a:xfrm>
            <a:off x="4498848" y="4069080"/>
            <a:ext cx="195315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4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25–40k cumulative customers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498848" y="4434840"/>
            <a:ext cx="1207008" cy="301752"/>
          </a:xfrm>
          <a:prstGeom prst="roundRect">
            <a:avLst>
              <a:gd name="adj" fmla="val 48485"/>
            </a:avLst>
          </a:prstGeom>
          <a:solidFill>
            <a:srgbClr val="F1EBE0"/>
          </a:solidFill>
          <a:ln/>
        </p:spPr>
      </p:sp>
      <p:sp>
        <p:nvSpPr>
          <p:cNvPr id="23" name="Text 21"/>
          <p:cNvSpPr/>
          <p:nvPr/>
        </p:nvSpPr>
        <p:spPr>
          <a:xfrm>
            <a:off x="4498848" y="4434840"/>
            <a:ext cx="120700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4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300–500 outlets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8092440" y="1828800"/>
            <a:ext cx="3611880" cy="4114800"/>
          </a:xfrm>
          <a:prstGeom prst="roundRect">
            <a:avLst>
              <a:gd name="adj" fmla="val 2278"/>
            </a:avLst>
          </a:prstGeom>
          <a:solidFill>
            <a:srgbClr val="F3E2DA"/>
          </a:solidFill>
          <a:ln w="12700">
            <a:solidFill>
              <a:srgbClr val="D9B6A6"/>
            </a:solidFill>
            <a:prstDash val="solid"/>
          </a:ln>
          <a:effectLst>
            <a:outerShdw sx="100000" sy="100000" kx="0" ky="0" algn="bl" rotWithShape="0" blurRad="177800" dist="63500" dir="5400000">
              <a:srgbClr val="2B1C13">
                <a:alpha val="16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293608" y="2011680"/>
            <a:ext cx="32095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3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MONTHS 10–12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293608" y="2286000"/>
            <a:ext cx="320954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8F3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Institutional &amp; Export Readiness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293608" y="3017520"/>
            <a:ext cx="3209544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F3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GCC export registration · airline &amp; railway pilots · corporate gifting &amp; meal kits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8293608" y="4069080"/>
            <a:ext cx="896112" cy="301752"/>
          </a:xfrm>
          <a:prstGeom prst="roundRect">
            <a:avLst>
              <a:gd name="adj" fmla="val 48485"/>
            </a:avLst>
          </a:prstGeom>
          <a:solidFill>
            <a:srgbClr val="F7E4DA"/>
          </a:solidFill>
          <a:ln/>
        </p:spPr>
      </p:sp>
      <p:sp>
        <p:nvSpPr>
          <p:cNvPr id="29" name="Text 27"/>
          <p:cNvSpPr/>
          <p:nvPr/>
        </p:nvSpPr>
        <p:spPr>
          <a:xfrm>
            <a:off x="8293608" y="4069080"/>
            <a:ext cx="89611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3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6–8 cities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9281160" y="4069080"/>
            <a:ext cx="1642262" cy="301752"/>
          </a:xfrm>
          <a:prstGeom prst="roundRect">
            <a:avLst>
              <a:gd name="adj" fmla="val 48485"/>
            </a:avLst>
          </a:prstGeom>
          <a:solidFill>
            <a:srgbClr val="F7E4DA"/>
          </a:solidFill>
          <a:ln/>
        </p:spPr>
      </p:sp>
      <p:sp>
        <p:nvSpPr>
          <p:cNvPr id="31" name="Text 29"/>
          <p:cNvSpPr/>
          <p:nvPr/>
        </p:nvSpPr>
        <p:spPr>
          <a:xfrm>
            <a:off x="9281160" y="4069080"/>
            <a:ext cx="164226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3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pilot shipments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8293608" y="4434840"/>
            <a:ext cx="1953158" cy="301752"/>
          </a:xfrm>
          <a:prstGeom prst="roundRect">
            <a:avLst>
              <a:gd name="adj" fmla="val 48485"/>
            </a:avLst>
          </a:prstGeom>
          <a:solidFill>
            <a:srgbClr val="F7E4DA"/>
          </a:solidFill>
          <a:ln/>
        </p:spPr>
      </p:sp>
      <p:sp>
        <p:nvSpPr>
          <p:cNvPr id="33" name="Text 31"/>
          <p:cNvSpPr/>
          <p:nvPr/>
        </p:nvSpPr>
        <p:spPr>
          <a:xfrm>
            <a:off x="8293608" y="4434840"/>
            <a:ext cx="195315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3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 institutional verticals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85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pPr algn="l" indent="0" marL="0">
              <a:buNone/>
            </a:pPr>
            <a:r>
              <a:rPr lang="en-US" sz="900" dirty="0">
                <a:solidFill>
                  <a:srgbClr val="8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 of Regional Indian Cuisine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317175" y="647395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7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 / 22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80F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1097280"/>
            <a:ext cx="5943600" cy="4114800"/>
          </a:xfrm>
          <a:prstGeom prst="rect">
            <a:avLst/>
          </a:prstGeom>
          <a:solidFill>
            <a:srgbClr val="B8532E">
              <a:alpha val="1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5120640"/>
            <a:ext cx="5029200" cy="3108960"/>
          </a:xfrm>
          <a:prstGeom prst="rect">
            <a:avLst/>
          </a:prstGeom>
          <a:solidFill>
            <a:srgbClr val="C9962B">
              <a:alpha val="11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853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STRATEGIC RECOMMENDATION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658368"/>
            <a:ext cx="96012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4E9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multi-brand premium food platform, not a conventional FMCG line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402775" y="40233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8F7B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 — STRUCTURE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02920" y="1481328"/>
            <a:ext cx="11185855" cy="0"/>
          </a:xfrm>
          <a:prstGeom prst="line">
            <a:avLst/>
          </a:prstGeom>
          <a:noFill/>
          <a:ln w="12700">
            <a:solidFill>
              <a:srgbClr val="4A3A2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2651760"/>
            <a:ext cx="2697480" cy="2834640"/>
          </a:xfrm>
          <a:prstGeom prst="roundRect">
            <a:avLst>
              <a:gd name="adj" fmla="val 3051"/>
            </a:avLst>
          </a:prstGeom>
          <a:solidFill>
            <a:srgbClr val="2B1C13"/>
          </a:solidFill>
          <a:ln w="12700">
            <a:solidFill>
              <a:srgbClr val="4A3A2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7512" y="2816352"/>
            <a:ext cx="236829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96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DIVISION 1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67512" y="3072384"/>
            <a:ext cx="236829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4E9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Regional Ready-to-Eat Meals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67512" y="3703320"/>
            <a:ext cx="647395" cy="301752"/>
          </a:xfrm>
          <a:prstGeom prst="roundRect">
            <a:avLst>
              <a:gd name="adj" fmla="val 48485"/>
            </a:avLst>
          </a:prstGeom>
          <a:solidFill>
            <a:srgbClr val="3A2718"/>
          </a:solidFill>
          <a:ln/>
        </p:spPr>
      </p:sp>
      <p:sp>
        <p:nvSpPr>
          <p:cNvPr id="12" name="Text 10"/>
          <p:cNvSpPr/>
          <p:nvPr/>
        </p:nvSpPr>
        <p:spPr>
          <a:xfrm>
            <a:off x="667512" y="3703320"/>
            <a:ext cx="647395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9B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Kerala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388059" y="3703320"/>
            <a:ext cx="896112" cy="301752"/>
          </a:xfrm>
          <a:prstGeom prst="roundRect">
            <a:avLst>
              <a:gd name="adj" fmla="val 48485"/>
            </a:avLst>
          </a:prstGeom>
          <a:solidFill>
            <a:srgbClr val="3A2718"/>
          </a:solidFill>
          <a:ln/>
        </p:spPr>
      </p:sp>
      <p:sp>
        <p:nvSpPr>
          <p:cNvPr id="14" name="Text 12"/>
          <p:cNvSpPr/>
          <p:nvPr/>
        </p:nvSpPr>
        <p:spPr>
          <a:xfrm>
            <a:off x="1388059" y="3703320"/>
            <a:ext cx="89611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9B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Tamil Nadu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357323" y="3703320"/>
            <a:ext cx="647395" cy="301752"/>
          </a:xfrm>
          <a:prstGeom prst="roundRect">
            <a:avLst>
              <a:gd name="adj" fmla="val 48485"/>
            </a:avLst>
          </a:prstGeom>
          <a:solidFill>
            <a:srgbClr val="3A2718"/>
          </a:solidFill>
          <a:ln/>
        </p:spPr>
      </p:sp>
      <p:sp>
        <p:nvSpPr>
          <p:cNvPr id="16" name="Text 14"/>
          <p:cNvSpPr/>
          <p:nvPr/>
        </p:nvSpPr>
        <p:spPr>
          <a:xfrm>
            <a:off x="2357323" y="3703320"/>
            <a:ext cx="647395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9B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Andhra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67512" y="4069080"/>
            <a:ext cx="833933" cy="301752"/>
          </a:xfrm>
          <a:prstGeom prst="roundRect">
            <a:avLst>
              <a:gd name="adj" fmla="val 48485"/>
            </a:avLst>
          </a:prstGeom>
          <a:solidFill>
            <a:srgbClr val="3A2718"/>
          </a:solidFill>
          <a:ln/>
        </p:spPr>
      </p:sp>
      <p:sp>
        <p:nvSpPr>
          <p:cNvPr id="18" name="Text 16"/>
          <p:cNvSpPr/>
          <p:nvPr/>
        </p:nvSpPr>
        <p:spPr>
          <a:xfrm>
            <a:off x="667512" y="4069080"/>
            <a:ext cx="833933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9B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Chettinad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1574597" y="4069080"/>
            <a:ext cx="958291" cy="301752"/>
          </a:xfrm>
          <a:prstGeom prst="roundRect">
            <a:avLst>
              <a:gd name="adj" fmla="val 48485"/>
            </a:avLst>
          </a:prstGeom>
          <a:solidFill>
            <a:srgbClr val="3A2718"/>
          </a:solidFill>
          <a:ln/>
        </p:spPr>
      </p:sp>
      <p:sp>
        <p:nvSpPr>
          <p:cNvPr id="20" name="Text 18"/>
          <p:cNvSpPr/>
          <p:nvPr/>
        </p:nvSpPr>
        <p:spPr>
          <a:xfrm>
            <a:off x="1574597" y="4069080"/>
            <a:ext cx="958291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9B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Mangalorean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337560" y="2651760"/>
            <a:ext cx="2697480" cy="2834640"/>
          </a:xfrm>
          <a:prstGeom prst="roundRect">
            <a:avLst>
              <a:gd name="adj" fmla="val 3051"/>
            </a:avLst>
          </a:prstGeom>
          <a:solidFill>
            <a:srgbClr val="2B1C13"/>
          </a:solidFill>
          <a:ln w="12700">
            <a:solidFill>
              <a:srgbClr val="4A3A2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02152" y="2816352"/>
            <a:ext cx="236829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96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DIVISION 2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502152" y="3072384"/>
            <a:ext cx="236829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4E9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High-Protein Foods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3502152" y="3703320"/>
            <a:ext cx="1082650" cy="301752"/>
          </a:xfrm>
          <a:prstGeom prst="roundRect">
            <a:avLst>
              <a:gd name="adj" fmla="val 48485"/>
            </a:avLst>
          </a:prstGeom>
          <a:solidFill>
            <a:srgbClr val="3A2718"/>
          </a:solidFill>
          <a:ln/>
        </p:spPr>
      </p:sp>
      <p:sp>
        <p:nvSpPr>
          <p:cNvPr id="25" name="Text 23"/>
          <p:cNvSpPr/>
          <p:nvPr/>
        </p:nvSpPr>
        <p:spPr>
          <a:xfrm>
            <a:off x="3502152" y="3703320"/>
            <a:ext cx="108265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9B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Chicken Jerky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657954" y="3703320"/>
            <a:ext cx="896112" cy="301752"/>
          </a:xfrm>
          <a:prstGeom prst="roundRect">
            <a:avLst>
              <a:gd name="adj" fmla="val 48485"/>
            </a:avLst>
          </a:prstGeom>
          <a:solidFill>
            <a:srgbClr val="3A2718"/>
          </a:solidFill>
          <a:ln/>
        </p:spPr>
      </p:sp>
      <p:sp>
        <p:nvSpPr>
          <p:cNvPr id="27" name="Text 25"/>
          <p:cNvSpPr/>
          <p:nvPr/>
        </p:nvSpPr>
        <p:spPr>
          <a:xfrm>
            <a:off x="4657954" y="3703320"/>
            <a:ext cx="89611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9B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Fish Jerky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502152" y="4069080"/>
            <a:ext cx="958291" cy="301752"/>
          </a:xfrm>
          <a:prstGeom prst="roundRect">
            <a:avLst>
              <a:gd name="adj" fmla="val 48485"/>
            </a:avLst>
          </a:prstGeom>
          <a:solidFill>
            <a:srgbClr val="3A2718"/>
          </a:solidFill>
          <a:ln/>
        </p:spPr>
      </p:sp>
      <p:sp>
        <p:nvSpPr>
          <p:cNvPr id="29" name="Text 27"/>
          <p:cNvSpPr/>
          <p:nvPr/>
        </p:nvSpPr>
        <p:spPr>
          <a:xfrm>
            <a:off x="3502152" y="4069080"/>
            <a:ext cx="958291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9B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Prawn Jerky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502152" y="4434840"/>
            <a:ext cx="1890979" cy="301752"/>
          </a:xfrm>
          <a:prstGeom prst="roundRect">
            <a:avLst>
              <a:gd name="adj" fmla="val 48485"/>
            </a:avLst>
          </a:prstGeom>
          <a:solidFill>
            <a:srgbClr val="3A2718"/>
          </a:solidFill>
          <a:ln/>
        </p:spPr>
      </p:sp>
      <p:sp>
        <p:nvSpPr>
          <p:cNvPr id="31" name="Text 29"/>
          <p:cNvSpPr/>
          <p:nvPr/>
        </p:nvSpPr>
        <p:spPr>
          <a:xfrm>
            <a:off x="3502152" y="4434840"/>
            <a:ext cx="1890979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9B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Mushroom &amp; Jackfruit Jerky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502152" y="4800600"/>
            <a:ext cx="1393546" cy="301752"/>
          </a:xfrm>
          <a:prstGeom prst="roundRect">
            <a:avLst>
              <a:gd name="adj" fmla="val 48485"/>
            </a:avLst>
          </a:prstGeom>
          <a:solidFill>
            <a:srgbClr val="3A2718"/>
          </a:solidFill>
          <a:ln/>
        </p:spPr>
      </p:sp>
      <p:sp>
        <p:nvSpPr>
          <p:cNvPr id="33" name="Text 31"/>
          <p:cNvSpPr/>
          <p:nvPr/>
        </p:nvSpPr>
        <p:spPr>
          <a:xfrm>
            <a:off x="3502152" y="4800600"/>
            <a:ext cx="1393546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9B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Protein meal bowls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6172200" y="2651760"/>
            <a:ext cx="2697480" cy="2834640"/>
          </a:xfrm>
          <a:prstGeom prst="roundRect">
            <a:avLst>
              <a:gd name="adj" fmla="val 3051"/>
            </a:avLst>
          </a:prstGeom>
          <a:solidFill>
            <a:srgbClr val="2B1C13"/>
          </a:solidFill>
          <a:ln w="12700">
            <a:solidFill>
              <a:srgbClr val="4A3A2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36792" y="2816352"/>
            <a:ext cx="236829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96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DIVISION 3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336792" y="3072384"/>
            <a:ext cx="236829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4E9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Ready-to-Cook Solutions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6336792" y="3703320"/>
            <a:ext cx="958291" cy="301752"/>
          </a:xfrm>
          <a:prstGeom prst="roundRect">
            <a:avLst>
              <a:gd name="adj" fmla="val 48485"/>
            </a:avLst>
          </a:prstGeom>
          <a:solidFill>
            <a:srgbClr val="3A2718"/>
          </a:solidFill>
          <a:ln/>
        </p:spPr>
      </p:sp>
      <p:sp>
        <p:nvSpPr>
          <p:cNvPr id="38" name="Text 36"/>
          <p:cNvSpPr/>
          <p:nvPr/>
        </p:nvSpPr>
        <p:spPr>
          <a:xfrm>
            <a:off x="6336792" y="3703320"/>
            <a:ext cx="958291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9B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Curry bases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7368235" y="3703320"/>
            <a:ext cx="1020470" cy="301752"/>
          </a:xfrm>
          <a:prstGeom prst="roundRect">
            <a:avLst>
              <a:gd name="adj" fmla="val 48485"/>
            </a:avLst>
          </a:prstGeom>
          <a:solidFill>
            <a:srgbClr val="3A2718"/>
          </a:solidFill>
          <a:ln/>
        </p:spPr>
      </p:sp>
      <p:sp>
        <p:nvSpPr>
          <p:cNvPr id="40" name="Text 38"/>
          <p:cNvSpPr/>
          <p:nvPr/>
        </p:nvSpPr>
        <p:spPr>
          <a:xfrm>
            <a:off x="7368235" y="3703320"/>
            <a:ext cx="102047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9B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Biryani kits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6336792" y="4069080"/>
            <a:ext cx="1269187" cy="301752"/>
          </a:xfrm>
          <a:prstGeom prst="roundRect">
            <a:avLst>
              <a:gd name="adj" fmla="val 48485"/>
            </a:avLst>
          </a:prstGeom>
          <a:solidFill>
            <a:srgbClr val="3A2718"/>
          </a:solidFill>
          <a:ln/>
        </p:spPr>
      </p:sp>
      <p:sp>
        <p:nvSpPr>
          <p:cNvPr id="42" name="Text 40"/>
          <p:cNvSpPr/>
          <p:nvPr/>
        </p:nvSpPr>
        <p:spPr>
          <a:xfrm>
            <a:off x="6336792" y="4069080"/>
            <a:ext cx="1269187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9B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gravies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6336792" y="4434840"/>
            <a:ext cx="1144829" cy="301752"/>
          </a:xfrm>
          <a:prstGeom prst="roundRect">
            <a:avLst>
              <a:gd name="adj" fmla="val 48485"/>
            </a:avLst>
          </a:prstGeom>
          <a:solidFill>
            <a:srgbClr val="3A2718"/>
          </a:solidFill>
          <a:ln/>
        </p:spPr>
      </p:sp>
      <p:sp>
        <p:nvSpPr>
          <p:cNvPr id="44" name="Text 42"/>
          <p:cNvSpPr/>
          <p:nvPr/>
        </p:nvSpPr>
        <p:spPr>
          <a:xfrm>
            <a:off x="6336792" y="4434840"/>
            <a:ext cx="1144829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9B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Breakfast kits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9006840" y="2651760"/>
            <a:ext cx="2697480" cy="2834640"/>
          </a:xfrm>
          <a:prstGeom prst="roundRect">
            <a:avLst>
              <a:gd name="adj" fmla="val 3051"/>
            </a:avLst>
          </a:prstGeom>
          <a:solidFill>
            <a:srgbClr val="2B1C13"/>
          </a:solidFill>
          <a:ln w="12700">
            <a:solidFill>
              <a:srgbClr val="4A3A2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171432" y="2816352"/>
            <a:ext cx="236829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96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DIVISION 4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9171432" y="3072384"/>
            <a:ext cx="236829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4E9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Global Ethnic Foods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9171432" y="3703320"/>
            <a:ext cx="1704442" cy="301752"/>
          </a:xfrm>
          <a:prstGeom prst="roundRect">
            <a:avLst>
              <a:gd name="adj" fmla="val 48485"/>
            </a:avLst>
          </a:prstGeom>
          <a:solidFill>
            <a:srgbClr val="3A2718"/>
          </a:solidFill>
          <a:ln/>
        </p:spPr>
      </p:sp>
      <p:sp>
        <p:nvSpPr>
          <p:cNvPr id="49" name="Text 47"/>
          <p:cNvSpPr/>
          <p:nvPr/>
        </p:nvSpPr>
        <p:spPr>
          <a:xfrm>
            <a:off x="9171432" y="3703320"/>
            <a:ext cx="170444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9B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Export-focused products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9171432" y="4069080"/>
            <a:ext cx="1393546" cy="301752"/>
          </a:xfrm>
          <a:prstGeom prst="roundRect">
            <a:avLst>
              <a:gd name="adj" fmla="val 48485"/>
            </a:avLst>
          </a:prstGeom>
          <a:solidFill>
            <a:srgbClr val="3A2718"/>
          </a:solidFill>
          <a:ln/>
        </p:spPr>
      </p:sp>
      <p:sp>
        <p:nvSpPr>
          <p:cNvPr id="51" name="Text 49"/>
          <p:cNvSpPr/>
          <p:nvPr/>
        </p:nvSpPr>
        <p:spPr>
          <a:xfrm>
            <a:off x="9171432" y="4069080"/>
            <a:ext cx="1393546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9B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NRI meal solutions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9171432" y="4434840"/>
            <a:ext cx="1020470" cy="301752"/>
          </a:xfrm>
          <a:prstGeom prst="roundRect">
            <a:avLst>
              <a:gd name="adj" fmla="val 48485"/>
            </a:avLst>
          </a:prstGeom>
          <a:solidFill>
            <a:srgbClr val="3A2718"/>
          </a:solidFill>
          <a:ln/>
        </p:spPr>
      </p:sp>
      <p:sp>
        <p:nvSpPr>
          <p:cNvPr id="53" name="Text 51"/>
          <p:cNvSpPr/>
          <p:nvPr/>
        </p:nvSpPr>
        <p:spPr>
          <a:xfrm>
            <a:off x="9171432" y="4434840"/>
            <a:ext cx="102047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9B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 packs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85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pPr algn="l" indent="0" marL="0">
              <a:buNone/>
            </a:pPr>
            <a:r>
              <a:rPr lang="en-US" sz="900" dirty="0">
                <a:solidFill>
                  <a:srgbClr val="8F7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 of Regional Indian Cuisine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10317175" y="647395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7B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 / 22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80F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1097280"/>
            <a:ext cx="5943600" cy="4114800"/>
          </a:xfrm>
          <a:prstGeom prst="rect">
            <a:avLst/>
          </a:prstGeom>
          <a:solidFill>
            <a:srgbClr val="B8532E">
              <a:alpha val="1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5120640"/>
            <a:ext cx="5029200" cy="3108960"/>
          </a:xfrm>
          <a:prstGeom prst="rect">
            <a:avLst/>
          </a:prstGeom>
          <a:solidFill>
            <a:srgbClr val="C9962B">
              <a:alpha val="11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4173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853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LONG-TERM VIEW — 5 TO 10 YEARS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1783080"/>
            <a:ext cx="107899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3000" i="1" dirty="0">
                <a:solidFill>
                  <a:srgbClr val="F4E9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 disciplined execution, this can become a </a:t>
            </a:r>
            <a:pPr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C99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₹500–1,000 crore</a:t>
            </a:r>
            <a:pPr indent="0" marL="0">
              <a:lnSpc>
                <a:spcPct val="115000"/>
              </a:lnSpc>
              <a:buNone/>
            </a:pPr>
            <a:r>
              <a:rPr lang="en-US" sz="3000" i="1" dirty="0">
                <a:solidFill>
                  <a:srgbClr val="F4E9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branded food company.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02920" y="3291840"/>
            <a:ext cx="96012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8F7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Achieving that scale requires sustained investment in product quality, brand building, distribution, and manufacturing excellence — the ambition is conditional on execution, not guaranteed by market size alone.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4343400"/>
            <a:ext cx="9966960" cy="1371600"/>
          </a:xfrm>
          <a:prstGeom prst="roundRect">
            <a:avLst>
              <a:gd name="adj" fmla="val 6000"/>
            </a:avLst>
          </a:prstGeom>
          <a:solidFill>
            <a:srgbClr val="2B1C13"/>
          </a:solidFill>
          <a:ln w="12700">
            <a:solidFill>
              <a:srgbClr val="4A3A2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4526280"/>
            <a:ext cx="9418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99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maximum probability of success: compete on </a:t>
            </a:r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F4E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authenticity, superior taste, premium quality, convenience, and regional culinary expertise</a:t>
            </a:r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99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never on price.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85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pPr algn="l" indent="0" marL="0">
              <a:buNone/>
            </a:pPr>
            <a:r>
              <a:rPr lang="en-US" sz="900" dirty="0">
                <a:solidFill>
                  <a:srgbClr val="8F7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 of Regional Indian Cuisine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317175" y="647395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7B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 / 22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853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SUMMARY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90525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dirty="0">
                <a:solidFill>
                  <a:srgbClr val="2416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whole thesis, one slide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402775" y="40233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8C7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 — SUMMARY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02920" y="1481328"/>
            <a:ext cx="11185855" cy="0"/>
          </a:xfrm>
          <a:prstGeom prst="line">
            <a:avLst/>
          </a:prstGeom>
          <a:noFill/>
          <a:ln w="12700">
            <a:solidFill>
              <a:srgbClr val="E4DCC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828800"/>
            <a:ext cx="4572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853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" y="182880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416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Ready-to-Eat — a Premium Regional Food Company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05840" y="2130552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around Time, Trust, Authenticity, Health, Premium Experience, Consistency.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2542032"/>
            <a:ext cx="4572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853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05840" y="2542032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416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white space is premium South Indian cuisine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05840" y="2843784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Indian staples are owned; Kerala &amp; South Indian regional cuisine is not.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3255264"/>
            <a:ext cx="4572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853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05840" y="3255264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416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Hero Products, not 60 SKUs — plus a jerky bet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005840" y="3557016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Discipline in the line-up; a near-uncontested next category in high-protein snacks.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" y="3968496"/>
            <a:ext cx="4572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853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05840" y="3968496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416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the South first, then go north, then export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005840" y="4270248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Kerala → Tamil Nadu → Karnataka → Telangana → Hyderabad → India → GCC → the world.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2920" y="4681728"/>
            <a:ext cx="4572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853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05840" y="4681728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416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as a 4-division platform, not one FMCG brand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005840" y="498348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RTE, High-Protein Foods, Ready-to-Cook, Global Ethnic Foods.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2920" y="5394960"/>
            <a:ext cx="4572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853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05840" y="539496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416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 on authenticity, not price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005840" y="5696712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benchmark is “can this replace my mother's food?” — not another RTE brand.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85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pPr algn="l" indent="0" marL="0">
              <a:buNone/>
            </a:pPr>
            <a:r>
              <a:rPr lang="en-US" sz="900" dirty="0">
                <a:solidFill>
                  <a:srgbClr val="8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 of Regional Indian Cuisine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317175" y="647395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7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 / 22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80F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1097280"/>
            <a:ext cx="5943600" cy="4114800"/>
          </a:xfrm>
          <a:prstGeom prst="rect">
            <a:avLst/>
          </a:prstGeom>
          <a:solidFill>
            <a:srgbClr val="B8532E">
              <a:alpha val="1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5120640"/>
            <a:ext cx="5029200" cy="3108960"/>
          </a:xfrm>
          <a:prstGeom prst="rect">
            <a:avLst/>
          </a:prstGeom>
          <a:solidFill>
            <a:srgbClr val="C9962B">
              <a:alpha val="11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0" y="914400"/>
            <a:ext cx="4343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B853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CLOSING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103120" y="1371600"/>
            <a:ext cx="95554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3000" dirty="0">
                <a:solidFill>
                  <a:srgbClr val="F4E9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a Ready-to-Eat company.</a:t>
            </a:r>
            <a:endParaRPr lang="en-US" sz="3000" dirty="0"/>
          </a:p>
          <a:p>
            <a:pPr algn="r" indent="0" marL="0">
              <a:lnSpc>
                <a:spcPct val="115000"/>
              </a:lnSpc>
              <a:buNone/>
            </a:pPr>
            <a:r>
              <a:rPr lang="en-US" sz="3000" dirty="0">
                <a:solidFill>
                  <a:srgbClr val="F4E9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House of Regional Indian Cuisine.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2103120" y="3063240"/>
            <a:ext cx="9555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8F7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Beginning with Kerala. Judged against a grandmother's kitchen, not another RTE brand.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949440" y="3794760"/>
            <a:ext cx="4709160" cy="0"/>
          </a:xfrm>
          <a:prstGeom prst="line">
            <a:avLst/>
          </a:prstGeom>
          <a:noFill/>
          <a:ln w="12700">
            <a:solidFill>
              <a:srgbClr val="4A3A2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0" y="3931920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9B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Discussion: market validation, capital requirements, and the right first city to launch in.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85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pPr algn="l" indent="0" marL="0">
              <a:buNone/>
            </a:pPr>
            <a:r>
              <a:rPr lang="en-US" sz="900" dirty="0">
                <a:solidFill>
                  <a:srgbClr val="8F7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 of Regional Indian Cuisine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317175" y="647395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7B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 / 22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2026-07-21T19:26:45Z</dcterms:created>
  <dcterms:modified xsi:type="dcterms:W3CDTF">2026-07-21T19:26:45Z</dcterms:modified>
</cp:coreProperties>
</file>