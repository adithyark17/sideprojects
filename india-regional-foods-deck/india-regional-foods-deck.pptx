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317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ENTRY STRATEGY &amp; BUSINESS OPPORTUNITY REPORT — 22 JULY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26517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India's Premium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Food Opportunity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02920" y="4480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Ready-to-Eat &amp; High-Protein Convenience Foods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48920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Premium South Indian Cuisine  ·  Kerala Ethnic Foods  ·  Meat &amp; Vegetable Jerky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30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EXECUTIVE SUMMARY — OUR OPINION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the most attractive consumer businesses India will witness this decade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OPINION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0848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is not "Ready-to-Eat Food."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becoming India's first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Regional Food Company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delivering restaurant-quality authentic regional cuisine through modern food technology.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867912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don't build another MTR, Haldiram, or ITC clone. Build the "House of Regional Indian Cuisine," beginning with Kerala and South Indian foods.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852160" y="199339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are no longer buying convenience alone. They are buying 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0" y="2404872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2404872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36408" y="2404872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36408" y="2404872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820656" y="2404872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0656" y="2404872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852160" y="33832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338328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36408" y="33832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338328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Experience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820656" y="3383280"/>
            <a:ext cx="1874520" cy="868680"/>
          </a:xfrm>
          <a:prstGeom prst="roundRect">
            <a:avLst>
              <a:gd name="adj" fmla="val 8421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20656" y="338328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30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SIZE &amp;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large, fast-growing, still-underdeveloped market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MARKET SIZE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52374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Processing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017520" y="2651760"/>
            <a:ext cx="6842455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8" name="Shape 6"/>
          <p:cNvSpPr/>
          <p:nvPr/>
        </p:nvSpPr>
        <p:spPr>
          <a:xfrm>
            <a:off x="3017520" y="2651760"/>
            <a:ext cx="6842455" cy="82296"/>
          </a:xfrm>
          <a:prstGeom prst="roundRect">
            <a:avLst>
              <a:gd name="adj" fmla="val 50000"/>
            </a:avLst>
          </a:prstGeom>
          <a:solidFill>
            <a:srgbClr val="B8532E"/>
          </a:solidFill>
          <a:ln/>
        </p:spPr>
      </p:sp>
      <p:sp>
        <p:nvSpPr>
          <p:cNvPr id="9" name="Text 7"/>
          <p:cNvSpPr/>
          <p:nvPr/>
        </p:nvSpPr>
        <p:spPr>
          <a:xfrm>
            <a:off x="9859975" y="252374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US$600+ Billion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2962656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35808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Food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017520" y="3163824"/>
            <a:ext cx="6842455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3" name="Shape 11"/>
          <p:cNvSpPr/>
          <p:nvPr/>
        </p:nvSpPr>
        <p:spPr>
          <a:xfrm>
            <a:off x="3017520" y="3163824"/>
            <a:ext cx="5610813" cy="82296"/>
          </a:xfrm>
          <a:prstGeom prst="roundRect">
            <a:avLst>
              <a:gd name="adj" fmla="val 50000"/>
            </a:avLst>
          </a:prstGeom>
          <a:solidFill>
            <a:srgbClr val="B8532E"/>
          </a:solidFill>
          <a:ln/>
        </p:spPr>
      </p:sp>
      <p:sp>
        <p:nvSpPr>
          <p:cNvPr id="14" name="Text 12"/>
          <p:cNvSpPr/>
          <p:nvPr/>
        </p:nvSpPr>
        <p:spPr>
          <a:xfrm>
            <a:off x="9859975" y="30358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US$75–85 Billion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474720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54787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Food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017520" y="3675888"/>
            <a:ext cx="6842455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8" name="Shape 16"/>
          <p:cNvSpPr/>
          <p:nvPr/>
        </p:nvSpPr>
        <p:spPr>
          <a:xfrm>
            <a:off x="3017520" y="3675888"/>
            <a:ext cx="957944" cy="82296"/>
          </a:xfrm>
          <a:prstGeom prst="roundRect">
            <a:avLst>
              <a:gd name="adj" fmla="val 50000"/>
            </a:avLst>
          </a:prstGeom>
          <a:solidFill>
            <a:srgbClr val="B853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59975" y="354787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US$2+ Billion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059936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Eat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017520" y="4187952"/>
            <a:ext cx="6842455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3" name="Shape 21"/>
          <p:cNvSpPr/>
          <p:nvPr/>
        </p:nvSpPr>
        <p:spPr>
          <a:xfrm>
            <a:off x="3017520" y="4187952"/>
            <a:ext cx="615821" cy="82296"/>
          </a:xfrm>
          <a:prstGeom prst="roundRect">
            <a:avLst>
              <a:gd name="adj" fmla="val 50000"/>
            </a:avLst>
          </a:prstGeom>
          <a:solidFill>
            <a:srgbClr val="B8532E"/>
          </a:solidFill>
          <a:ln/>
        </p:spPr>
      </p:sp>
      <p:sp>
        <p:nvSpPr>
          <p:cNvPr id="24" name="Text 22"/>
          <p:cNvSpPr/>
          <p:nvPr/>
        </p:nvSpPr>
        <p:spPr>
          <a:xfrm>
            <a:off x="9859975" y="405993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US$1–1.3 Billion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49884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457200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Cook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017520" y="4700016"/>
            <a:ext cx="6842455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8" name="Shape 26"/>
          <p:cNvSpPr/>
          <p:nvPr/>
        </p:nvSpPr>
        <p:spPr>
          <a:xfrm>
            <a:off x="3017520" y="4700016"/>
            <a:ext cx="410547" cy="82296"/>
          </a:xfrm>
          <a:prstGeom prst="roundRect">
            <a:avLst>
              <a:gd name="adj" fmla="val 50000"/>
            </a:avLst>
          </a:prstGeom>
          <a:solidFill>
            <a:srgbClr val="B8532E"/>
          </a:solidFill>
          <a:ln/>
        </p:spPr>
      </p:sp>
      <p:sp>
        <p:nvSpPr>
          <p:cNvPr id="29" name="Text 27"/>
          <p:cNvSpPr/>
          <p:nvPr/>
        </p:nvSpPr>
        <p:spPr>
          <a:xfrm>
            <a:off x="9859975" y="457200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US$700+ Million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02920" y="5193792"/>
            <a:ext cx="11185855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0352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Commerce Food Sales are </a:t>
            </a:r>
            <a:pPr indent="0" marL="0">
              <a:buNone/>
            </a:pPr>
            <a:r>
              <a:rPr lang="en-US" sz="1300" b="1" dirty="0">
                <a:solidFill>
                  <a:srgbClr val="B85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&gt;40% annually</a:t>
            </a:r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major cities — the distribution accelerant underneath all five categories.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5788152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RTE segment itself is tracking a </a:t>
            </a:r>
            <a:pPr indent="0" marL="0">
              <a:buNone/>
            </a:pPr>
            <a:r>
              <a:rPr lang="en-US" sz="10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CAGR</a:t>
            </a:r>
            <a:pPr indent="0" marL="0">
              <a:buNone/>
            </a:pPr>
            <a:r>
              <a:rPr lang="en-US" sz="10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from ~US$1.04B (2025) to ~US$2.44B (2031) — consistent with the estimate above.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SIZING — TAM / SAM / SOM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macro opportunity to what we can actually capture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TAM / SAM / SOM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907792"/>
            <a:ext cx="36066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309067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TAM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334670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~₹18,500 Cr (~$2.2B)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04088" y="3803904"/>
            <a:ext cx="320436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RTE Meals + Packaged Ethnic Snacks + Global Malayali/NRK Spend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2498" y="2907792"/>
            <a:ext cx="36066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93666" y="309067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93666" y="334670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~₹2,400 Cr (~$285M)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93666" y="3803904"/>
            <a:ext cx="320436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India Metros (BLR, MAA, HYD) + Urban/Regional Kerala (Central &amp; North) + GCC, USA, Europe &amp; Global NRKs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2077" y="2907792"/>
            <a:ext cx="3606698" cy="2377440"/>
          </a:xfrm>
          <a:prstGeom prst="roundRect">
            <a:avLst>
              <a:gd name="adj" fmla="val 3077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3245" y="309067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 (Year 3)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83245" y="334670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F3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~₹50–75 Cr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83245" y="3803904"/>
            <a:ext cx="3204362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2–3% direct market capture via Q-Commerce, D2C, Modern Trade, GCC, US &amp; European ethnic export channels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30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IS THIS INDUSTRY GROWING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India itself is changing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CONTEXT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130552"/>
            <a:ext cx="5410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YEARS AGO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250545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496312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Mothers stayed home.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816352"/>
            <a:ext cx="541004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8712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2862072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Meals were cooked fresh.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95848" y="2130552"/>
            <a:ext cx="0" cy="155448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130552"/>
            <a:ext cx="5410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78728" y="250545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1648" y="2496312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husband and wife work.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8728" y="2798064"/>
            <a:ext cx="541004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8728" y="28529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81648" y="2843784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eat separately.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145536"/>
            <a:ext cx="541004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8728" y="32004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81648" y="3191256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professionals travel.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78728" y="3493008"/>
            <a:ext cx="541004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8728" y="35478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81648" y="3538728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live away from home.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8728" y="3840480"/>
            <a:ext cx="541004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8728" y="389534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81648" y="3886200"/>
            <a:ext cx="490712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order food online.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4325112"/>
            <a:ext cx="11185855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4416552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want home food </a:t>
            </a:r>
            <a:pPr algn="ctr" indent="0" marL="0">
              <a:buNone/>
            </a:pPr>
            <a:r>
              <a:rPr lang="en-US" sz="2000" i="1" dirty="0">
                <a:solidFill>
                  <a:srgbClr val="B85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cooking</a:t>
            </a:r>
            <a:pPr algn="ctr" indent="0" marL="0">
              <a:buNone/>
            </a:pPr>
            <a:r>
              <a:rPr lang="en-US" sz="2000" i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".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02920" y="4873752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that is exactly where Ready-to-Eat fits.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30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CONSUMER EVOLUTION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fourth generation is where the money 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— CONSUMER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67712"/>
            <a:ext cx="2577008" cy="1051560"/>
          </a:xfrm>
          <a:prstGeom prst="roundRect">
            <a:avLst>
              <a:gd name="adj" fmla="val 695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" y="2414016"/>
            <a:ext cx="22844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9224" y="2633472"/>
            <a:ext cx="228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Sensitive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79928" y="26563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72536" y="2267712"/>
            <a:ext cx="2577008" cy="1051560"/>
          </a:xfrm>
          <a:prstGeom prst="roundRect">
            <a:avLst>
              <a:gd name="adj" fmla="val 695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18840" y="2414016"/>
            <a:ext cx="22844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 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518840" y="2633472"/>
            <a:ext cx="228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Seeking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49544" y="26563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42152" y="2267712"/>
            <a:ext cx="2577008" cy="1051560"/>
          </a:xfrm>
          <a:prstGeom prst="roundRect">
            <a:avLst>
              <a:gd name="adj" fmla="val 695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8456" y="2414016"/>
            <a:ext cx="22844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 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88456" y="2633472"/>
            <a:ext cx="228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Seeking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19159" y="26563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11767" y="2267712"/>
            <a:ext cx="2577008" cy="1051560"/>
          </a:xfrm>
          <a:prstGeom prst="roundRect">
            <a:avLst>
              <a:gd name="adj" fmla="val 6957"/>
            </a:avLst>
          </a:prstGeom>
          <a:solidFill>
            <a:srgbClr val="3A2718"/>
          </a:solidFill>
          <a:ln w="12700">
            <a:solidFill>
              <a:srgbClr val="C996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58071" y="2414016"/>
            <a:ext cx="22844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 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258071" y="2633472"/>
            <a:ext cx="2284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Authenticity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3822192"/>
            <a:ext cx="111858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Consumers no longer compare you to another RTE brand.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ask 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"Can this replace my mother's food?"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30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BIG WHITE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Indian is owned. South Indian regional cuisine is not.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— WHITE SPACE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084832"/>
            <a:ext cx="5410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BRANDS DOMINATE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404872"/>
            <a:ext cx="62636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404872"/>
            <a:ext cx="6263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Rajma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220724" y="2404872"/>
            <a:ext cx="47091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0" name="Text 8"/>
          <p:cNvSpPr/>
          <p:nvPr/>
        </p:nvSpPr>
        <p:spPr>
          <a:xfrm>
            <a:off x="1220724" y="2404872"/>
            <a:ext cx="4709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2404872"/>
            <a:ext cx="62636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2" name="Text 10"/>
          <p:cNvSpPr/>
          <p:nvPr/>
        </p:nvSpPr>
        <p:spPr>
          <a:xfrm>
            <a:off x="1783080" y="2404872"/>
            <a:ext cx="6263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0884" y="2404872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4" name="Text 12"/>
          <p:cNvSpPr/>
          <p:nvPr/>
        </p:nvSpPr>
        <p:spPr>
          <a:xfrm>
            <a:off x="2500884" y="2404872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96412" y="2404872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6" name="Text 14"/>
          <p:cNvSpPr/>
          <p:nvPr/>
        </p:nvSpPr>
        <p:spPr>
          <a:xfrm>
            <a:off x="3296412" y="2404872"/>
            <a:ext cx="9372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 Bhaji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25112" y="2404872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8" name="Text 16"/>
          <p:cNvSpPr/>
          <p:nvPr/>
        </p:nvSpPr>
        <p:spPr>
          <a:xfrm>
            <a:off x="4325112" y="2404872"/>
            <a:ext cx="7818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95848" y="2084832"/>
            <a:ext cx="0" cy="173736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8728" y="2084832"/>
            <a:ext cx="5410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 WHITE SPACE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78728" y="2404872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22" name="Text 20"/>
          <p:cNvSpPr/>
          <p:nvPr/>
        </p:nvSpPr>
        <p:spPr>
          <a:xfrm>
            <a:off x="6278728" y="2404872"/>
            <a:ext cx="2322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Chicken Curry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692744" y="2404872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24" name="Text 22"/>
          <p:cNvSpPr/>
          <p:nvPr/>
        </p:nvSpPr>
        <p:spPr>
          <a:xfrm>
            <a:off x="8692744" y="2404872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Malabar Fish Curry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278728" y="2734056"/>
            <a:ext cx="1216152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26" name="Text 24"/>
          <p:cNvSpPr/>
          <p:nvPr/>
        </p:nvSpPr>
        <p:spPr>
          <a:xfrm>
            <a:off x="6278728" y="2734056"/>
            <a:ext cx="1216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Ghee Rice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586320" y="2734056"/>
            <a:ext cx="1618488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320" y="2734056"/>
            <a:ext cx="1618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Roast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296248" y="273405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30" name="Text 28"/>
          <p:cNvSpPr/>
          <p:nvPr/>
        </p:nvSpPr>
        <p:spPr>
          <a:xfrm>
            <a:off x="9296248" y="2734056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Beef Roast*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78728" y="306324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32" name="Text 30"/>
          <p:cNvSpPr/>
          <p:nvPr/>
        </p:nvSpPr>
        <p:spPr>
          <a:xfrm>
            <a:off x="6278728" y="306324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Prawn Curry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87488" y="3063240"/>
            <a:ext cx="1316736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34" name="Text 32"/>
          <p:cNvSpPr/>
          <p:nvPr/>
        </p:nvSpPr>
        <p:spPr>
          <a:xfrm>
            <a:off x="7787488" y="3063240"/>
            <a:ext cx="13167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 Roast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195664" y="3063240"/>
            <a:ext cx="813816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36" name="Text 34"/>
          <p:cNvSpPr/>
          <p:nvPr/>
        </p:nvSpPr>
        <p:spPr>
          <a:xfrm>
            <a:off x="9195664" y="3063240"/>
            <a:ext cx="813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0100920" y="3063240"/>
            <a:ext cx="813816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38" name="Text 36"/>
          <p:cNvSpPr/>
          <p:nvPr/>
        </p:nvSpPr>
        <p:spPr>
          <a:xfrm>
            <a:off x="10100920" y="3063240"/>
            <a:ext cx="813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Puttu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78728" y="3392424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/>
        </p:spPr>
      </p:sp>
      <p:sp>
        <p:nvSpPr>
          <p:cNvPr id="40" name="Text 38"/>
          <p:cNvSpPr/>
          <p:nvPr/>
        </p:nvSpPr>
        <p:spPr>
          <a:xfrm>
            <a:off x="6278728" y="3392424"/>
            <a:ext cx="1517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Kadala Curry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278728" y="3803904"/>
            <a:ext cx="5410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*Where legally permissible / for export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02920" y="4599432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" y="4736592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just a product portfolio. It is </a:t>
            </a:r>
            <a:pPr indent="0" marL="0">
              <a:buNone/>
            </a:pPr>
            <a:r>
              <a:rPr lang="en-US" sz="1500" b="1" dirty="0">
                <a:solidFill>
                  <a:srgbClr val="B85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cuisine platform.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30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REAL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think Ready-to-Eat. Think exporting Kerala to the world.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— REFRAME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21992"/>
            <a:ext cx="5455768" cy="1554480"/>
          </a:xfrm>
          <a:prstGeom prst="roundRect">
            <a:avLst>
              <a:gd name="adj" fmla="val 4706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50592"/>
            <a:ext cx="4907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THINK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770632"/>
            <a:ext cx="49071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7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am selling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8F7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Ready-to-Eat."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33008" y="2221992"/>
            <a:ext cx="5455768" cy="1554480"/>
          </a:xfrm>
          <a:prstGeom prst="roundRect">
            <a:avLst>
              <a:gd name="adj" fmla="val 4706"/>
            </a:avLst>
          </a:prstGeom>
          <a:solidFill>
            <a:srgbClr val="3A2718"/>
          </a:solidFill>
          <a:ln w="12700">
            <a:solidFill>
              <a:srgbClr val="C996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450592"/>
            <a:ext cx="4907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2770632"/>
            <a:ext cx="49071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am exporting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Kerala to the world."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" y="4096512"/>
            <a:ext cx="1559052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4096512"/>
            <a:ext cx="15590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competitors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53412" y="409651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5" name="Text 13"/>
          <p:cNvSpPr/>
          <p:nvPr/>
        </p:nvSpPr>
        <p:spPr>
          <a:xfrm>
            <a:off x="2153412" y="409651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570732" y="4096512"/>
            <a:ext cx="1559052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7" name="Text 15"/>
          <p:cNvSpPr/>
          <p:nvPr/>
        </p:nvSpPr>
        <p:spPr>
          <a:xfrm>
            <a:off x="3570732" y="4096512"/>
            <a:ext cx="15590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branding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221224" y="4096512"/>
            <a:ext cx="2336292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9" name="Text 17"/>
          <p:cNvSpPr/>
          <p:nvPr/>
        </p:nvSpPr>
        <p:spPr>
          <a:xfrm>
            <a:off x="5221224" y="4096512"/>
            <a:ext cx="23362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export opportunity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30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SEGMENTATION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segments, one canonical product 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— SEGMENTS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305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Urban Professionals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04088" y="2889504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2889504"/>
            <a:ext cx="9372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Breakfast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32788" y="2889504"/>
            <a:ext cx="62636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2" name="Text 10"/>
          <p:cNvSpPr/>
          <p:nvPr/>
        </p:nvSpPr>
        <p:spPr>
          <a:xfrm>
            <a:off x="1732788" y="2889504"/>
            <a:ext cx="6263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04088" y="3255264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255264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Dinner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" y="3182112"/>
            <a:ext cx="22569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opportunity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45104" y="21305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6272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46272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6272" y="288950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0" name="Text 18"/>
          <p:cNvSpPr/>
          <p:nvPr/>
        </p:nvSpPr>
        <p:spPr>
          <a:xfrm>
            <a:off x="3546272" y="288950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546272" y="3255264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2" name="Text 20"/>
          <p:cNvSpPr/>
          <p:nvPr/>
        </p:nvSpPr>
        <p:spPr>
          <a:xfrm>
            <a:off x="3546272" y="3255264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shelf life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87288" y="21305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8456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88456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88456" y="2889504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7" name="Text 25"/>
          <p:cNvSpPr/>
          <p:nvPr/>
        </p:nvSpPr>
        <p:spPr>
          <a:xfrm>
            <a:off x="6388456" y="2889504"/>
            <a:ext cx="7818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261708" y="2889504"/>
            <a:ext cx="62636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9" name="Text 27"/>
          <p:cNvSpPr/>
          <p:nvPr/>
        </p:nvSpPr>
        <p:spPr>
          <a:xfrm>
            <a:off x="7261708" y="2889504"/>
            <a:ext cx="6263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Jerky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388456" y="3182112"/>
            <a:ext cx="22569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Hardly exists today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29471" y="21305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30639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230639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Citizens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230639" y="288950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5" name="Text 33"/>
          <p:cNvSpPr/>
          <p:nvPr/>
        </p:nvSpPr>
        <p:spPr>
          <a:xfrm>
            <a:off x="9230639" y="288950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Home-style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0337063" y="288950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7" name="Text 35"/>
          <p:cNvSpPr/>
          <p:nvPr/>
        </p:nvSpPr>
        <p:spPr>
          <a:xfrm>
            <a:off x="10337063" y="288950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spice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02920" y="37307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4088" y="39136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04088" y="41696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04088" y="4489704"/>
            <a:ext cx="85953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2" name="Text 40"/>
          <p:cNvSpPr/>
          <p:nvPr/>
        </p:nvSpPr>
        <p:spPr>
          <a:xfrm>
            <a:off x="704088" y="4489704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04088" y="485546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4" name="Text 42"/>
          <p:cNvSpPr/>
          <p:nvPr/>
        </p:nvSpPr>
        <p:spPr>
          <a:xfrm>
            <a:off x="704088" y="4855464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retail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345104" y="37307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46272" y="39136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546272" y="41696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Pantry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546272" y="4782312"/>
            <a:ext cx="22569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B2B opportunity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187288" y="3730752"/>
            <a:ext cx="26593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456" y="39136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388456" y="41696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NRIs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388456" y="448970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53" name="Text 51"/>
          <p:cNvSpPr/>
          <p:nvPr/>
        </p:nvSpPr>
        <p:spPr>
          <a:xfrm>
            <a:off x="6388456" y="4489704"/>
            <a:ext cx="109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572604" y="4489704"/>
            <a:ext cx="39319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55" name="Text 53"/>
          <p:cNvSpPr/>
          <p:nvPr/>
        </p:nvSpPr>
        <p:spPr>
          <a:xfrm>
            <a:off x="7572604" y="4489704"/>
            <a:ext cx="393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057236" y="4489704"/>
            <a:ext cx="47091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57" name="Text 55"/>
          <p:cNvSpPr/>
          <p:nvPr/>
        </p:nvSpPr>
        <p:spPr>
          <a:xfrm>
            <a:off x="8057236" y="4489704"/>
            <a:ext cx="4709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388456" y="4782312"/>
            <a:ext cx="22569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Highest-margin segment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30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ARCHITECTURE &amp; INNOVATION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2×2 strategic portfolio, not a flat SKU 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— PORTFOLIO MATRIX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039112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axis: taste attachment &amp; repeat habit   ·   Horizontal axis: trial friction vs. repeat velocity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450592"/>
            <a:ext cx="547862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633472"/>
            <a:ext cx="50762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QUADRANT I — THE VELOCITY ENGINE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4088" y="2889504"/>
            <a:ext cx="50762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Traditional Snacks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04088" y="3118104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118104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Murukku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199132" y="3118104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3" name="Text 11"/>
          <p:cNvSpPr/>
          <p:nvPr/>
        </p:nvSpPr>
        <p:spPr>
          <a:xfrm>
            <a:off x="2199132" y="3118104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Thattai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94176" y="311810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5" name="Text 13"/>
          <p:cNvSpPr/>
          <p:nvPr/>
        </p:nvSpPr>
        <p:spPr>
          <a:xfrm>
            <a:off x="3694176" y="311810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 Chips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04088" y="3410712"/>
            <a:ext cx="507629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trial barrier / high repeat velocity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18708" y="2450592"/>
            <a:ext cx="5478628" cy="1325880"/>
          </a:xfrm>
          <a:prstGeom prst="roundRect">
            <a:avLst>
              <a:gd name="adj" fmla="val 5517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19876" y="2633472"/>
            <a:ext cx="50762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QUADRANT II — THE AUTHENTICITY DRIVER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319876" y="2889504"/>
            <a:ext cx="50762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F3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Ambient Non-Veg RTE Regional Curries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19876" y="3118104"/>
            <a:ext cx="18699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319876" y="3118104"/>
            <a:ext cx="18699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Malabar Chicken Curry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281264" y="311810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8281264" y="311810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Curry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387688" y="3118104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9387688" y="3118104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Chettinad Mutton Curry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19876" y="3410712"/>
            <a:ext cx="507629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ticket size / high emotional pull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913632"/>
            <a:ext cx="547862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4096512"/>
            <a:ext cx="50762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QUADRANT IV — STAPLE EXTENSIONS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04088" y="4352544"/>
            <a:ext cx="50762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Ambient Veg Meals &amp; Breakfast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04088" y="4581144"/>
            <a:ext cx="62636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1" name="Text 29"/>
          <p:cNvSpPr/>
          <p:nvPr/>
        </p:nvSpPr>
        <p:spPr>
          <a:xfrm>
            <a:off x="704088" y="4581144"/>
            <a:ext cx="6263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421892" y="4581144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3" name="Text 31"/>
          <p:cNvSpPr/>
          <p:nvPr/>
        </p:nvSpPr>
        <p:spPr>
          <a:xfrm>
            <a:off x="1421892" y="4581144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17420" y="458114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5" name="Text 33"/>
          <p:cNvSpPr/>
          <p:nvPr/>
        </p:nvSpPr>
        <p:spPr>
          <a:xfrm>
            <a:off x="2217420" y="458114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Idiyappam Mix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04088" y="4873752"/>
            <a:ext cx="507629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mass market — basket filler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18708" y="3913632"/>
            <a:ext cx="547862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9876" y="4096512"/>
            <a:ext cx="50762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QUADRANT III — THE FITNESS HALO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319876" y="4352544"/>
            <a:ext cx="50762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Meat/Fish Jerkies &amp; Plant Seitan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19876" y="458114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9876" y="458114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Jerky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659472" y="458114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3" name="Text 41"/>
          <p:cNvSpPr/>
          <p:nvPr/>
        </p:nvSpPr>
        <p:spPr>
          <a:xfrm>
            <a:off x="7659472" y="458114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Jerky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765896" y="4581144"/>
            <a:ext cx="179222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5" name="Text 43"/>
          <p:cNvSpPr/>
          <p:nvPr/>
        </p:nvSpPr>
        <p:spPr>
          <a:xfrm>
            <a:off x="8765896" y="4581144"/>
            <a:ext cx="17922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Seitan Protein Bites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319876" y="4873752"/>
            <a:ext cx="507629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audience / high margin hook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30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Hero Products. Not 60 SKUs.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— PRODUCT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30552"/>
            <a:ext cx="2659304" cy="2834640"/>
          </a:xfrm>
          <a:prstGeom prst="roundRect">
            <a:avLst>
              <a:gd name="adj" fmla="val 275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Rice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87121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07008" y="286207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Ghee Rice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4088" y="313639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31912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07008" y="318211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Jeera Rice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45104" y="2130552"/>
            <a:ext cx="2659304" cy="2834640"/>
          </a:xfrm>
          <a:prstGeom prst="roundRect">
            <a:avLst>
              <a:gd name="adj" fmla="val 275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6272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CURRIES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46272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Curries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46272" y="2871216"/>
            <a:ext cx="45720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49192" y="286207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Chicken Curry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546272" y="3118104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6272" y="3172968"/>
            <a:ext cx="45720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49192" y="3163824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Malabar Chicken Curry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546272" y="3419856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6272" y="3474720"/>
            <a:ext cx="45720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49192" y="3465576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Curry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546272" y="3721608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46272" y="3776472"/>
            <a:ext cx="45720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49192" y="3767328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Prawn Curry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546272" y="4023360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6272" y="4078224"/>
            <a:ext cx="45720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049192" y="4069080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Roast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3546272" y="432511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46272" y="4379976"/>
            <a:ext cx="45720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049192" y="437083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Mutton Curry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87288" y="2130552"/>
            <a:ext cx="2659304" cy="2834640"/>
          </a:xfrm>
          <a:prstGeom prst="roundRect">
            <a:avLst>
              <a:gd name="adj" fmla="val 275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8456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388456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Vegetarian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88456" y="287121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891376" y="286207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Avial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388456" y="313639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456" y="31912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91376" y="318211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Vegetable Kurma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388456" y="345643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456" y="351129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91376" y="35021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Sambar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388456" y="377647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456" y="383133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891376" y="382219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Kadala Curry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9029471" y="2130552"/>
            <a:ext cx="2659304" cy="2834640"/>
          </a:xfrm>
          <a:prstGeom prst="roundRect">
            <a:avLst>
              <a:gd name="adj" fmla="val 275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30639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SNACKS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9230639" y="256946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Snacks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230639" y="287121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733559" y="286207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Jerky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9230639" y="313639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230639" y="319125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733559" y="318211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Jerky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9230639" y="345643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230639" y="351129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733559" y="35021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Mushroom Jerky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9230639" y="3776472"/>
            <a:ext cx="22569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230639" y="3831336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9733559" y="382219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Jackfruit Jerky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502920" y="5102352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i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Strategic Portfolio Matrix (previous slide) for how this lineup maps to velocity, authenticity, and margin.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30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PROTEIN STANDARDS &amp; FORMULATION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dietary science, not marketing claims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— PROTEIN SCIENCE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45059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INGREDIENT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086600" y="2450592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PROTEIN/100G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49640" y="2450592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&amp; CLAIM GUIDELINE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724912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935224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 Gluten (Seitan)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80360" y="3035808"/>
            <a:ext cx="3931920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2" name="Shape 10"/>
          <p:cNvSpPr/>
          <p:nvPr/>
        </p:nvSpPr>
        <p:spPr>
          <a:xfrm>
            <a:off x="2880360" y="3035808"/>
            <a:ext cx="3931920" cy="82296"/>
          </a:xfrm>
          <a:prstGeom prst="roundRect">
            <a:avLst>
              <a:gd name="adj" fmla="val 50000"/>
            </a:avLst>
          </a:prstGeom>
          <a:solidFill>
            <a:srgbClr val="C9962B"/>
          </a:solidFill>
          <a:ln/>
        </p:spPr>
      </p:sp>
      <p:sp>
        <p:nvSpPr>
          <p:cNvPr id="13" name="Text 11"/>
          <p:cNvSpPr/>
          <p:nvPr/>
        </p:nvSpPr>
        <p:spPr>
          <a:xfrm>
            <a:off x="7086600" y="2935224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70–75g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9640" y="288950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Primary plant-protein base </a:t>
            </a:r>
            <a:pPr indent="0" marL="0">
              <a:buNone/>
            </a:pPr>
            <a:r>
              <a:rPr lang="en-US" sz="9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Seitan Jerky &amp; Protein Bowls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3383280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50215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Chunks (Dry)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880360" y="3602736"/>
            <a:ext cx="3931920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8" name="Shape 16"/>
          <p:cNvSpPr/>
          <p:nvPr/>
        </p:nvSpPr>
        <p:spPr>
          <a:xfrm>
            <a:off x="2880360" y="3602736"/>
            <a:ext cx="2713025" cy="82296"/>
          </a:xfrm>
          <a:prstGeom prst="roundRect">
            <a:avLst>
              <a:gd name="adj" fmla="val 50000"/>
            </a:avLst>
          </a:prstGeom>
          <a:solidFill>
            <a:srgbClr val="C9962B"/>
          </a:solidFill>
          <a:ln/>
        </p:spPr>
      </p:sp>
      <p:sp>
        <p:nvSpPr>
          <p:cNvPr id="19" name="Text 17"/>
          <p:cNvSpPr/>
          <p:nvPr/>
        </p:nvSpPr>
        <p:spPr>
          <a:xfrm>
            <a:off x="7086600" y="350215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49640" y="345643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High-protein plant platform </a:t>
            </a:r>
            <a:pPr indent="0" marL="0">
              <a:buNone/>
            </a:pPr>
            <a:r>
              <a:rPr lang="en-US" sz="9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snack fortification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395020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0690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Roasted Edamame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80360" y="4169664"/>
            <a:ext cx="3931920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4" name="Shape 22"/>
          <p:cNvSpPr/>
          <p:nvPr/>
        </p:nvSpPr>
        <p:spPr>
          <a:xfrm>
            <a:off x="2880360" y="4169664"/>
            <a:ext cx="2083918" cy="82296"/>
          </a:xfrm>
          <a:prstGeom prst="roundRect">
            <a:avLst>
              <a:gd name="adj" fmla="val 50000"/>
            </a:avLst>
          </a:prstGeom>
          <a:solidFill>
            <a:srgbClr val="C9962B"/>
          </a:solidFill>
          <a:ln/>
        </p:spPr>
      </p:sp>
      <p:sp>
        <p:nvSpPr>
          <p:cNvPr id="25" name="Text 23"/>
          <p:cNvSpPr/>
          <p:nvPr/>
        </p:nvSpPr>
        <p:spPr>
          <a:xfrm>
            <a:off x="7086600" y="406908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35–40g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49640" y="4023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High-protein plant/seed base</a:t>
            </a:r>
            <a:pPr indent="0" marL="0">
              <a:buNone/>
            </a:pPr>
            <a:r>
              <a:rPr lang="en-US" sz="9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4517136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6360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/ Fish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880360" y="4736592"/>
            <a:ext cx="3931920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0" name="Shape 28"/>
          <p:cNvSpPr/>
          <p:nvPr/>
        </p:nvSpPr>
        <p:spPr>
          <a:xfrm>
            <a:off x="2880360" y="4736592"/>
            <a:ext cx="1612087" cy="82296"/>
          </a:xfrm>
          <a:prstGeom prst="roundRect">
            <a:avLst>
              <a:gd name="adj" fmla="val 50000"/>
            </a:avLst>
          </a:prstGeom>
          <a:solidFill>
            <a:srgbClr val="C9962B"/>
          </a:solidFill>
          <a:ln/>
        </p:spPr>
      </p:sp>
      <p:sp>
        <p:nvSpPr>
          <p:cNvPr id="31" name="Text 29"/>
          <p:cNvSpPr/>
          <p:nvPr/>
        </p:nvSpPr>
        <p:spPr>
          <a:xfrm>
            <a:off x="7086600" y="4636008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22–31g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49640" y="459028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Primary animal protein </a:t>
            </a:r>
            <a:pPr indent="0" marL="0">
              <a:buNone/>
            </a:pPr>
            <a:r>
              <a:rPr lang="en-US" sz="9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retort curries &amp; meat jerkies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5084064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5202936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Jackfruit / Mushroom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880360" y="5303520"/>
            <a:ext cx="3931920" cy="82296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0" y="5303520"/>
            <a:ext cx="196596" cy="82296"/>
          </a:xfrm>
          <a:prstGeom prst="roundRect">
            <a:avLst>
              <a:gd name="adj" fmla="val 50000"/>
            </a:avLst>
          </a:prstGeom>
          <a:solidFill>
            <a:srgbClr val="B4A492"/>
          </a:solidFill>
          <a:ln/>
        </p:spPr>
      </p:sp>
      <p:sp>
        <p:nvSpPr>
          <p:cNvPr id="37" name="Text 35"/>
          <p:cNvSpPr/>
          <p:nvPr/>
        </p:nvSpPr>
        <p:spPr>
          <a:xfrm>
            <a:off x="7086600" y="5202936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1.5–4g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549640" y="515721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A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NOT high protein </a:t>
            </a:r>
            <a:pPr indent="0" marL="0">
              <a:buNone/>
            </a:pPr>
            <a:r>
              <a:rPr lang="en-US" sz="9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positioned strictly as low-fat, fiber &amp; texture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· 30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JERKY MAY BECOME THE NEXT BIG CATEGORY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 has followed the West's protein curve — jerky is next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— JERKY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3055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13055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powders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1305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514600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58775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8775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bars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25877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971800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304495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4495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cookies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023360" y="30449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3429000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350215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50215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chips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5021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3886200"/>
            <a:ext cx="40233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95935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3A2718"/>
          </a:solidFill>
          <a:ln w="12700">
            <a:solidFill>
              <a:srgbClr val="C996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95935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High-Protein Meat &amp; Veg Snacks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3959352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83480" y="21305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ACROSS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2450592"/>
            <a:ext cx="47091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2450592"/>
            <a:ext cx="4709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545836" y="2450592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29" name="Text 27"/>
          <p:cNvSpPr/>
          <p:nvPr/>
        </p:nvSpPr>
        <p:spPr>
          <a:xfrm>
            <a:off x="5545836" y="2450592"/>
            <a:ext cx="9372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574536" y="2450592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1" name="Text 29"/>
          <p:cNvSpPr/>
          <p:nvPr/>
        </p:nvSpPr>
        <p:spPr>
          <a:xfrm>
            <a:off x="6574536" y="2450592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370064" y="2450592"/>
            <a:ext cx="85953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3" name="Text 31"/>
          <p:cNvSpPr/>
          <p:nvPr/>
        </p:nvSpPr>
        <p:spPr>
          <a:xfrm>
            <a:off x="7370064" y="2450592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Trekking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321040" y="2450592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5" name="Text 33"/>
          <p:cNvSpPr/>
          <p:nvPr/>
        </p:nvSpPr>
        <p:spPr>
          <a:xfrm>
            <a:off x="8321040" y="2450592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16568" y="2450592"/>
            <a:ext cx="85953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7" name="Text 35"/>
          <p:cNvSpPr/>
          <p:nvPr/>
        </p:nvSpPr>
        <p:spPr>
          <a:xfrm>
            <a:off x="9116568" y="2450592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Military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0067544" y="2450592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9" name="Text 37"/>
          <p:cNvSpPr/>
          <p:nvPr/>
        </p:nvSpPr>
        <p:spPr>
          <a:xfrm>
            <a:off x="10067544" y="2450592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863072" y="2450592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41" name="Text 39"/>
          <p:cNvSpPr/>
          <p:nvPr/>
        </p:nvSpPr>
        <p:spPr>
          <a:xfrm>
            <a:off x="10863072" y="2450592"/>
            <a:ext cx="7818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983480" y="3044952"/>
            <a:ext cx="6705295" cy="1371600"/>
          </a:xfrm>
          <a:prstGeom prst="roundRect">
            <a:avLst>
              <a:gd name="adj" fmla="val 5333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12080" y="3182112"/>
            <a:ext cx="6248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executed correctly, jerky could become a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₹500–1,000 crore category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 the next decade in India.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212080" y="3776472"/>
            <a:ext cx="6248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on sustained consumer education and cold-chain-free product innovation — a projection, not a guarantee. Meat &amp; jerky snacks are already growing at a </a:t>
            </a:r>
            <a:pPr indent="0" marL="0">
              <a:buNone/>
            </a:pPr>
            <a:r>
              <a:rPr lang="en-US" sz="95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5.5% CAGR</a:t>
            </a:r>
            <a:pPr indent="0" marL="0">
              <a:buNone/>
            </a:pPr>
            <a:r>
              <a:rPr lang="en-US" sz="95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globally and nationally — an existing base to build from.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· 30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ENTRY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South. Not India. Not yet.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— ENTRY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67712"/>
            <a:ext cx="214365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450592"/>
            <a:ext cx="174132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Kerala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83738" y="2267712"/>
            <a:ext cx="214365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4906" y="2450592"/>
            <a:ext cx="174132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Tamil Nadu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64557" y="2267712"/>
            <a:ext cx="214365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5725" y="2450592"/>
            <a:ext cx="174132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Karnataka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182112"/>
            <a:ext cx="214365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3364992"/>
            <a:ext cx="174132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Telangana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83738" y="3182112"/>
            <a:ext cx="214365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4906" y="3364992"/>
            <a:ext cx="174132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Hyderabad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64557" y="3182112"/>
            <a:ext cx="2143658" cy="777240"/>
          </a:xfrm>
          <a:prstGeom prst="roundRect">
            <a:avLst>
              <a:gd name="adj" fmla="val 9412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5725" y="3364992"/>
            <a:ext cx="174132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F3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move north 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665415" y="22677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START HERE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65415" y="264261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68335" y="263347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already understand the food.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65415" y="3090672"/>
            <a:ext cx="3200400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65415" y="314553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68335" y="313639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of mouth grows faster.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65415" y="3593592"/>
            <a:ext cx="3200400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65415" y="364845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168335" y="363931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authenticity develops.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· 30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low commitment to high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— GTM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359152"/>
            <a:ext cx="200308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9224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First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9224" y="3108960"/>
            <a:ext cx="1710477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Website, Amazon, Zepto, Blinkit, Instamart, BigBasket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506005" y="293065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613" y="2359152"/>
            <a:ext cx="200308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917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944917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Retail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944917" y="3108960"/>
            <a:ext cx="1710477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Reliance, Nature's Basket, More, DMart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01697" y="293065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94305" y="2359152"/>
            <a:ext cx="200308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40609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240609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Trade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240609" y="3108960"/>
            <a:ext cx="1710477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Kirana, Regional Distributors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097390" y="293065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89998" y="2359152"/>
            <a:ext cx="200308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36302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536302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36302" y="3108960"/>
            <a:ext cx="1710477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Hotels, Hospitals, Corporate, Airlines, Railways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393083" y="293065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685691" y="2359152"/>
            <a:ext cx="2003085" cy="1417320"/>
          </a:xfrm>
          <a:prstGeom prst="roundRect">
            <a:avLst>
              <a:gd name="adj" fmla="val 5161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31995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831995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31995" y="3108960"/>
            <a:ext cx="1710477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first, then USA, Canada, Australia, Europe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005072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i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dated, 36-month version of this sequence follows later in the deck ("Beyond the First 12 Months").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· 30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CHANNEL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channel plays the same role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— CHANNELS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359152"/>
            <a:ext cx="2659304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5420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BRAND BUILDING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704088" y="316382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3163824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Commerce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21408" y="3163824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1" name="Text 9"/>
          <p:cNvSpPr/>
          <p:nvPr/>
        </p:nvSpPr>
        <p:spPr>
          <a:xfrm>
            <a:off x="2121408" y="3163824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45104" y="2359152"/>
            <a:ext cx="2659304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6272" y="25420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546272" y="316382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6272" y="316382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87288" y="2359152"/>
            <a:ext cx="2659304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8456" y="25420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388456" y="316382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9" name="Text 17"/>
          <p:cNvSpPr/>
          <p:nvPr/>
        </p:nvSpPr>
        <p:spPr>
          <a:xfrm>
            <a:off x="6388456" y="316382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Trade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029471" y="2359152"/>
            <a:ext cx="2659304" cy="1463040"/>
          </a:xfrm>
          <a:prstGeom prst="roundRect">
            <a:avLst>
              <a:gd name="adj" fmla="val 5000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30639" y="25420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230639" y="3163824"/>
            <a:ext cx="47091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9230639" y="3163824"/>
            <a:ext cx="4709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792995" y="3163824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9792995" y="3163824"/>
            <a:ext cx="9372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230639" y="3529584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9230639" y="3529584"/>
            <a:ext cx="7818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· 30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BRAND STRATEGY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455768" cy="1188720"/>
          </a:xfrm>
          <a:prstGeom prst="roundRect">
            <a:avLst>
              <a:gd name="adj" fmla="val 6154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4907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BECOME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49071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F7B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Eat Company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33008" y="1188720"/>
            <a:ext cx="5455768" cy="1188720"/>
          </a:xfrm>
          <a:prstGeom prst="roundRect">
            <a:avLst>
              <a:gd name="adj" fmla="val 6154"/>
            </a:avLst>
          </a:prstGeom>
          <a:solidFill>
            <a:srgbClr val="3A2718"/>
          </a:solidFill>
          <a:ln w="12700">
            <a:solidFill>
              <a:srgbClr val="C996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07328" y="1371600"/>
            <a:ext cx="4907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507328" y="1645920"/>
            <a:ext cx="4358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India's Premium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Kerala Kitchen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02920" y="2834640"/>
            <a:ext cx="111858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"Restaurant Quality.
Grandmother's Taste.
</a:t>
            </a:r>
            <a:pPr algn="ctr"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in 90 Seconds."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2920" y="42519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remember stories. Not technology.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· 30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MARKETING CAMPAIGN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curiosity to community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— MARKETING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359152"/>
            <a:ext cx="200308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CURIOSITY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9224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packaged food actually taste homemade?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06005" y="29992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98613" y="2359152"/>
            <a:ext cx="200308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917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TASTE CHALLENGE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944917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tasting vs. restaurant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01697" y="29992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94305" y="2359152"/>
            <a:ext cx="200308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40609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STORYTELLING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240609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recipe has a grandmother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097390" y="29992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9998" y="2359152"/>
            <a:ext cx="200308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36302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INFLUENCERS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36302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Food, Fitness, Travel, Chefs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93083" y="29992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685691" y="2359152"/>
            <a:ext cx="2003085" cy="1554480"/>
          </a:xfrm>
          <a:prstGeom prst="roundRect">
            <a:avLst>
              <a:gd name="adj" fmla="val 4706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31995" y="2505456"/>
            <a:ext cx="1710477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COMMUNITY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831995" y="2724912"/>
            <a:ext cx="1710477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club, festivals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· 30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the brand. Rent the rest — for now.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— OPERATIONS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359152"/>
            <a:ext cx="360669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54203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MANUFACTURING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79806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manufacturing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255264"/>
            <a:ext cx="3204362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Initially. Never build a factory first.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2498" y="2359152"/>
            <a:ext cx="360669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93666" y="254203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93666" y="279806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your own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93666" y="325526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4" name="Text 12"/>
          <p:cNvSpPr/>
          <p:nvPr/>
        </p:nvSpPr>
        <p:spPr>
          <a:xfrm>
            <a:off x="4493666" y="3255264"/>
            <a:ext cx="109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Kitchen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677814" y="325526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6" name="Text 14"/>
          <p:cNvSpPr/>
          <p:nvPr/>
        </p:nvSpPr>
        <p:spPr>
          <a:xfrm>
            <a:off x="5677814" y="325526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Lab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84238" y="3255264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8" name="Text 16"/>
          <p:cNvSpPr/>
          <p:nvPr/>
        </p:nvSpPr>
        <p:spPr>
          <a:xfrm>
            <a:off x="6784238" y="3255264"/>
            <a:ext cx="7818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Team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082077" y="2359152"/>
            <a:ext cx="3606698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83245" y="254203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DISTRIBUTION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3245" y="279806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Third-party logistics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83245" y="3255264"/>
            <a:ext cx="3204362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only brand, recipes, and the customer relationship.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" y="4142232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i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regulatory and compliance checkpoints follow on the next slide.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· 30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REGULATORY &amp; COMPLIANCE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domestic and export credibility from day one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— REGULATORY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30552"/>
            <a:ext cx="2659304" cy="2651760"/>
          </a:xfrm>
          <a:prstGeom prst="roundRect">
            <a:avLst>
              <a:gd name="adj" fmla="val 2759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LICENSING &amp; REGISTRATION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5968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07008" y="25877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FSSAI Central License (Cat. 13 &amp; 08)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04088" y="32278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32826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07008" y="32735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FDA Facility Registration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39136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39684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07008" y="39593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Municipal Trade License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345104" y="2130552"/>
            <a:ext cx="2659304" cy="2651760"/>
          </a:xfrm>
          <a:prstGeom prst="roundRect">
            <a:avLst>
              <a:gd name="adj" fmla="val 2759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6272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FACILITY &amp; MFG. QUALITY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46272" y="25968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049192" y="25877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 Plan &amp; GMP Certification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546272" y="32278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6272" y="32826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49192" y="32735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F0 Lethality Validation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546272" y="39136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6272" y="39684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049192" y="39593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Food Safety &amp; EFSA Audits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87288" y="2130552"/>
            <a:ext cx="2659304" cy="2651760"/>
          </a:xfrm>
          <a:prstGeom prst="roundRect">
            <a:avLst>
              <a:gd name="adj" fmla="val 2759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8456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SCIENTIFIC LAB TESTING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88456" y="25968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91376" y="25877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NABL Accredited testing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88456" y="32278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88456" y="32826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91376" y="32735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Microbial pathogen testing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88456" y="39136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8456" y="39684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91376" y="39593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sterility (IS 2168)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9029471" y="2130552"/>
            <a:ext cx="2659304" cy="2651760"/>
          </a:xfrm>
          <a:prstGeom prst="roundRect">
            <a:avLst>
              <a:gd name="adj" fmla="val 2759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30639" y="231343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LABELING &amp; CLEARANCES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230639" y="25968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733559" y="25877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NABL nutritional panel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9230639" y="32278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30639" y="32826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733559" y="32735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FDA &amp; EU export packaging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9230639" y="3913632"/>
            <a:ext cx="2256968" cy="0"/>
          </a:xfrm>
          <a:prstGeom prst="line">
            <a:avLst/>
          </a:prstGeom>
          <a:noFill/>
          <a:ln w="9525">
            <a:solidFill>
              <a:srgbClr val="3A271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30639" y="396849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33559" y="3959352"/>
            <a:ext cx="17540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potability (IS 10500)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· 30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FINANCIAL ROADMAP &amp; 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SKU-level margin engineering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037015" y="56692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 w="9525">
            <a:solidFill>
              <a:srgbClr val="B853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37015" y="56692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PLAN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8483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07568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Price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" y="2331720"/>
            <a:ext cx="1068293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₹120 – ₹250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53288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8775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57860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 — 30–40%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05840" y="2834640"/>
            <a:ext cx="1068293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 + retort/vacuum pouches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303580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9067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08152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&amp; Thermal Sterilization — 15–20%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53872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59359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58444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&amp; Warehousing — 10%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2920" y="404164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09651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408736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Gross Margin — 40–50%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454456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59943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05840" y="459028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Fees &amp; Allowances — 20–35%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05840" y="4846320"/>
            <a:ext cx="10682935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Distributors, retailers, quick commerce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504748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510235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05840" y="509320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Margin — 15–25%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· 30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FINANCIAL ROADMAP &amp; 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scale, Years 1–3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56855" y="56692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 w="9525">
            <a:solidFill>
              <a:srgbClr val="B853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56855" y="56692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PLAN PROJECTIONS — NOT AUDITED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029968"/>
            <a:ext cx="36066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212848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1 — FOUNDATION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04088" y="2468880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Cr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04088" y="299923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07008" y="299008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48%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04088" y="3264408"/>
            <a:ext cx="3204362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" y="331927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07008" y="331012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allowances: ₹1.8 Cr (20%)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" y="3584448"/>
            <a:ext cx="3204362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393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07008" y="363016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margin: ~5.5%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292498" y="2029968"/>
            <a:ext cx="360669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93666" y="2212848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2 — EXPANSION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93666" y="2468880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₹22.0 Cr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493666" y="299923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96586" y="299008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52%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493666" y="3264408"/>
            <a:ext cx="3204362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93666" y="331927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96586" y="331012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allowances: ₹4.8 Cr (22%)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93666" y="3584448"/>
            <a:ext cx="3204362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93666" y="36393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96586" y="363016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margin: ~12.0%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82077" y="2029968"/>
            <a:ext cx="3606698" cy="2377440"/>
          </a:xfrm>
          <a:prstGeom prst="roundRect">
            <a:avLst>
              <a:gd name="adj" fmla="val 3077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83245" y="2212848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 3 — SCALE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83245" y="2468880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F3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₹55.0 Cr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283245" y="299923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6165" y="299008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56%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283245" y="3264408"/>
            <a:ext cx="3204362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83245" y="331927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786165" y="331012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allowances: ₹12.1 Cr (22%)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83245" y="3584448"/>
            <a:ext cx="3204362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83245" y="36393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786165" y="3630168"/>
            <a:ext cx="270144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margin: ~16.5%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· 30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12-MONTH EXECUTION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1–4: Foundation, then product &amp; compliance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— ROADMAP 1/2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130552"/>
            <a:ext cx="5455768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3317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 w="9525">
            <a:solidFill>
              <a:srgbClr val="B853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31720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MONTHS 1-2 — FOUNDATION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752344"/>
            <a:ext cx="4998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309981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34440" y="3090672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demand in Kerala, Bengaluru, Chennai, Hyderabad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49985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4838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34440" y="3474720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consumer taste panels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3813048"/>
            <a:ext cx="49985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8679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34440" y="3858768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contract manufacturer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4197096"/>
            <a:ext cx="49985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51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34440" y="4242816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recipes, packaging, brand identity, pricing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31520" y="4645152"/>
            <a:ext cx="4998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31520" y="4873752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873752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071116" y="4873752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5" name="Text 23"/>
          <p:cNvSpPr/>
          <p:nvPr/>
        </p:nvSpPr>
        <p:spPr>
          <a:xfrm>
            <a:off x="2071116" y="4873752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566160" y="4873752"/>
            <a:ext cx="202539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7" name="Text 25"/>
          <p:cNvSpPr/>
          <p:nvPr/>
        </p:nvSpPr>
        <p:spPr>
          <a:xfrm>
            <a:off x="3566160" y="4873752"/>
            <a:ext cx="2025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agreement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33008" y="2130552"/>
            <a:ext cx="5455768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61608" y="2331720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F3DFD5"/>
          </a:solidFill>
          <a:ln w="9525">
            <a:solidFill>
              <a:srgbClr val="B853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1608" y="233172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MONTHS 3-4 — PRODUCT &amp; COMPLIANCE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61608" y="2752344"/>
            <a:ext cx="4998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61608" y="309981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64528" y="3090672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production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61608" y="3429000"/>
            <a:ext cx="49985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1608" y="348386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64528" y="3474720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Shelf-life validation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61608" y="3813048"/>
            <a:ext cx="49985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61608" y="38679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64528" y="3858768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FSSAI and packaging compliance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461608" y="4197096"/>
            <a:ext cx="4998568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61608" y="4251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64528" y="4242816"/>
            <a:ext cx="449564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website and e-commerce infrastructure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461608" y="4645152"/>
            <a:ext cx="4998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61608" y="4873752"/>
            <a:ext cx="2025396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5" name="Text 43"/>
          <p:cNvSpPr/>
          <p:nvPr/>
        </p:nvSpPr>
        <p:spPr>
          <a:xfrm>
            <a:off x="6461608" y="4873752"/>
            <a:ext cx="2025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 launch-ready SKUs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578444" y="4873752"/>
            <a:ext cx="155905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7" name="Text 45"/>
          <p:cNvSpPr/>
          <p:nvPr/>
        </p:nvSpPr>
        <p:spPr>
          <a:xfrm>
            <a:off x="8578444" y="4873752"/>
            <a:ext cx="15590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production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461608" y="5239512"/>
            <a:ext cx="1559052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49" name="Text 47"/>
          <p:cNvSpPr/>
          <p:nvPr/>
        </p:nvSpPr>
        <p:spPr>
          <a:xfrm>
            <a:off x="6461608" y="5239512"/>
            <a:ext cx="15590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· 30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12-MONTH EXECUTION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5–12: Launch, scale, institutional readiness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— ROADMAP 2/2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67712"/>
            <a:ext cx="360669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45059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MONTHS 5–6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70662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Controlled Launch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163824"/>
            <a:ext cx="3204362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Kochi, Bengaluru, Chennai · D2C, Amazon, Quick Commerce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04088" y="3895344"/>
            <a:ext cx="186994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895344"/>
            <a:ext cx="18699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5–10k trial customers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65476" y="389534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3" name="Text 11"/>
          <p:cNvSpPr/>
          <p:nvPr/>
        </p:nvSpPr>
        <p:spPr>
          <a:xfrm>
            <a:off x="2665476" y="3895344"/>
            <a:ext cx="109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&gt;25% repeat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92498" y="2267712"/>
            <a:ext cx="360669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3666" y="245059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MONTHS 7–9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93666" y="270662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Across South India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93666" y="3163824"/>
            <a:ext cx="3204362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Hyderabad, Coimbatore, Trivandrum, Mangalore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493666" y="3895344"/>
            <a:ext cx="1481328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19" name="Text 17"/>
          <p:cNvSpPr/>
          <p:nvPr/>
        </p:nvSpPr>
        <p:spPr>
          <a:xfrm>
            <a:off x="4493666" y="3895344"/>
            <a:ext cx="1481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25–40k customers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66434" y="3895344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F1EBE0"/>
          </a:solidFill>
          <a:ln/>
        </p:spPr>
      </p:sp>
      <p:sp>
        <p:nvSpPr>
          <p:cNvPr id="21" name="Text 19"/>
          <p:cNvSpPr/>
          <p:nvPr/>
        </p:nvSpPr>
        <p:spPr>
          <a:xfrm>
            <a:off x="6066434" y="3895344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4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300–500 outlets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082077" y="2267712"/>
            <a:ext cx="3606698" cy="2286000"/>
          </a:xfrm>
          <a:prstGeom prst="roundRect">
            <a:avLst>
              <a:gd name="adj" fmla="val 3200"/>
            </a:avLst>
          </a:prstGeom>
          <a:solidFill>
            <a:srgbClr val="F3DFD5"/>
          </a:solidFill>
          <a:ln w="12700">
            <a:solidFill>
              <a:srgbClr val="B853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83245" y="245059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MONTHS 10–12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83245" y="270662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F3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&amp; Export Readiness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83245" y="3163824"/>
            <a:ext cx="3204362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GCC export registration · airline &amp; railway pilots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83245" y="389534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283245" y="389534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cities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389669" y="3895344"/>
            <a:ext cx="19476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389669" y="3895344"/>
            <a:ext cx="194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pilot shipments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4736592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950" i="1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12-month plan is the foundation phase of a longer 36-month roadmap — see next.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· 30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PHASED GTM &amp; EXECUTION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first 12 months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— 36-MONTH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67712"/>
            <a:ext cx="3606698" cy="2651760"/>
          </a:xfrm>
          <a:prstGeom prst="roundRect">
            <a:avLst>
              <a:gd name="adj" fmla="val 2759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45059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1 · M0–6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70662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&amp; Soft Launch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163824"/>
            <a:ext cx="320436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Commerce, Amazon India, D2C. Recipe validation, F0 ≥ 12, sampling across Kerala, Chennai, Hyderabad &amp; Bengaluru.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04088" y="4261104"/>
            <a:ext cx="186994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61104"/>
            <a:ext cx="18699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trial customers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65476" y="426110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3" name="Text 11"/>
          <p:cNvSpPr/>
          <p:nvPr/>
        </p:nvSpPr>
        <p:spPr>
          <a:xfrm>
            <a:off x="2665476" y="4261104"/>
            <a:ext cx="109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&gt;20% repeat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92498" y="2267712"/>
            <a:ext cx="3606698" cy="2651760"/>
          </a:xfrm>
          <a:prstGeom prst="roundRect">
            <a:avLst>
              <a:gd name="adj" fmla="val 2759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3666" y="245059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2 · M6–18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493666" y="270662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Scaling &amp; GCC Entry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493666" y="3163824"/>
            <a:ext cx="320436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Trade, GT &amp; GCC Distributors, US Ethnic Chains. GCC import licensing; US FDA clearances.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493666" y="4261104"/>
            <a:ext cx="163677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9" name="Text 17"/>
          <p:cNvSpPr/>
          <p:nvPr/>
        </p:nvSpPr>
        <p:spPr>
          <a:xfrm>
            <a:off x="4493666" y="4261104"/>
            <a:ext cx="16367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₹10–15 Cr run-rate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21882" y="4261104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21" name="Text 19"/>
          <p:cNvSpPr/>
          <p:nvPr/>
        </p:nvSpPr>
        <p:spPr>
          <a:xfrm>
            <a:off x="6221882" y="4261104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MT outlets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082077" y="2267712"/>
            <a:ext cx="3606698" cy="2651760"/>
          </a:xfrm>
          <a:prstGeom prst="roundRect">
            <a:avLst>
              <a:gd name="adj" fmla="val 2759"/>
            </a:avLst>
          </a:prstGeom>
          <a:solidFill>
            <a:srgbClr val="3A2718"/>
          </a:solidFill>
          <a:ln w="12700">
            <a:solidFill>
              <a:srgbClr val="C996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83245" y="2450592"/>
            <a:ext cx="320436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8F3D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 3 · M18–36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283245" y="2706624"/>
            <a:ext cx="320436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3D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Expansion &amp; Scale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83245" y="3163824"/>
            <a:ext cx="320436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&amp; UK Ethnic Grocery Chains, North American Distributors, B2B Aviation. Automated retort facility; EU/EFSA compliance.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83245" y="4261104"/>
            <a:ext cx="15590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283245" y="4261104"/>
            <a:ext cx="15590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₹50–75 Cr revenue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933737" y="426110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33737" y="426110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 export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· 30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STRATEGIC 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Near-term milestones, with owners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— MILESTONES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505456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496312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 Sign-Off &amp; Lab Approval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05840" y="2752344"/>
            <a:ext cx="10682935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&amp; Regulatory Team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072384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FSSAI Central License &amp; Testing Complete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3319272"/>
            <a:ext cx="10682935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58444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639312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363016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Quick-Commerce Vendor Onboarding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05840" y="3886200"/>
            <a:ext cx="10682935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Channel Operations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51376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206240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4197096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Soft Launch (BLR, Kochi &amp; Central Kerala)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05840" y="4453128"/>
            <a:ext cx="10682935" cy="246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&amp; Marketing Team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· 30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STRATEGIC 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multi-brand premium food platform, not a conventional FMCG 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—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267712"/>
            <a:ext cx="2659304" cy="2377440"/>
          </a:xfrm>
          <a:prstGeom prst="roundRect">
            <a:avLst>
              <a:gd name="adj" fmla="val 307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45059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04088" y="270662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Ready-to-Eat Meals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" y="3986784"/>
            <a:ext cx="70408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986784"/>
            <a:ext cx="704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99616" y="3986784"/>
            <a:ext cx="1014984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2" name="Text 10"/>
          <p:cNvSpPr/>
          <p:nvPr/>
        </p:nvSpPr>
        <p:spPr>
          <a:xfrm>
            <a:off x="1499616" y="3986784"/>
            <a:ext cx="10149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Nadu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04088" y="4352544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352544"/>
            <a:ext cx="9372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Chettinad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45104" y="2267712"/>
            <a:ext cx="2659304" cy="2377440"/>
          </a:xfrm>
          <a:prstGeom prst="roundRect">
            <a:avLst>
              <a:gd name="adj" fmla="val 307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46272" y="245059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 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46272" y="270662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High-Protein Foods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46272" y="398678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19" name="Text 17"/>
          <p:cNvSpPr/>
          <p:nvPr/>
        </p:nvSpPr>
        <p:spPr>
          <a:xfrm>
            <a:off x="3546272" y="398678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Jerky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546272" y="435254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21" name="Text 19"/>
          <p:cNvSpPr/>
          <p:nvPr/>
        </p:nvSpPr>
        <p:spPr>
          <a:xfrm>
            <a:off x="3546272" y="435254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bowls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87288" y="2267712"/>
            <a:ext cx="2659304" cy="2377440"/>
          </a:xfrm>
          <a:prstGeom prst="roundRect">
            <a:avLst>
              <a:gd name="adj" fmla="val 307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8456" y="245059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 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388456" y="270662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Ready-to-Cook Solutions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88456" y="3986784"/>
            <a:ext cx="1092708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26" name="Text 24"/>
          <p:cNvSpPr/>
          <p:nvPr/>
        </p:nvSpPr>
        <p:spPr>
          <a:xfrm>
            <a:off x="6388456" y="3986784"/>
            <a:ext cx="109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Curry bases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88456" y="4352544"/>
            <a:ext cx="1170432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28" name="Text 26"/>
          <p:cNvSpPr/>
          <p:nvPr/>
        </p:nvSpPr>
        <p:spPr>
          <a:xfrm>
            <a:off x="6388456" y="4352544"/>
            <a:ext cx="1170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Biryani kits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029471" y="2267712"/>
            <a:ext cx="2659304" cy="2377440"/>
          </a:xfrm>
          <a:prstGeom prst="roundRect">
            <a:avLst>
              <a:gd name="adj" fmla="val 307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30639" y="2450592"/>
            <a:ext cx="2256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C996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 4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230639" y="2706624"/>
            <a:ext cx="22569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Ethnic Foods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230639" y="3986784"/>
            <a:ext cx="1403604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3" name="Text 31"/>
          <p:cNvSpPr/>
          <p:nvPr/>
        </p:nvSpPr>
        <p:spPr>
          <a:xfrm>
            <a:off x="9230639" y="3986784"/>
            <a:ext cx="14036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products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230639" y="4352544"/>
            <a:ext cx="1248156" cy="274320"/>
          </a:xfrm>
          <a:prstGeom prst="roundRect">
            <a:avLst>
              <a:gd name="adj" fmla="val 50000"/>
            </a:avLst>
          </a:prstGeom>
          <a:solidFill>
            <a:srgbClr val="3A2718"/>
          </a:solidFill>
          <a:ln/>
        </p:spPr>
      </p:sp>
      <p:sp>
        <p:nvSpPr>
          <p:cNvPr id="35" name="Text 33"/>
          <p:cNvSpPr/>
          <p:nvPr/>
        </p:nvSpPr>
        <p:spPr>
          <a:xfrm>
            <a:off x="9230639" y="4352544"/>
            <a:ext cx="1248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meal kits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· 30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LONG-TERM VIEW — 5 TO 10 YEARS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disciplined execution, this can become a </a:t>
            </a:r>
            <a:pPr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C99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₹500–1,000 crore</a:t>
            </a:r>
            <a:pPr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branded food company.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251460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Achieving that scale requires sustained investment in product quality, brand building, distribution, and manufacturing excellence — the ambition is conditional on execution, not guaranteed by market size alone.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3337560"/>
            <a:ext cx="9875520" cy="1051560"/>
          </a:xfrm>
          <a:prstGeom prst="roundRect">
            <a:avLst>
              <a:gd name="adj" fmla="val 6957"/>
            </a:avLst>
          </a:prstGeom>
          <a:solidFill>
            <a:srgbClr val="2B1C13"/>
          </a:solidFill>
          <a:ln w="12700">
            <a:solidFill>
              <a:srgbClr val="3A27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747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maximum probability of success: compete on 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4E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authenticity, superior taste, premium quality, convenience, and regional culinary expertise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99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never on price.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· 30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2416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thesis, one slide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945575" y="5669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—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185416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176272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Ready-to-Eat — a Premium Regional Food Company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05840" y="2432304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Time, Trust, Authenticity, Health, Premium Experience, Consistency.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615184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70048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2660904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space is premium South Indian cuisine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2916936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Indian staples are owned; Kerala &amp; South Indian regional cuisine is not.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3099816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154680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3145536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Hero Products, not 60 SKUs — plus a jerky bet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05840" y="3401568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in the line-up; a near-uncontested next category in high-protein snacks.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639312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3630168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South first, then go north, then export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05840" y="3886200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→ Tamil Nadu → Karnataka → Telangana → Hyderabad → India → GCC → the world.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4069080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23944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4114800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as a 4-division platform, not one FMCG brand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05840" y="4370832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RTE, High-Protein Foods, Ready-to-Cook, Global Ethnic Foods.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4553712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4608576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4599432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on authenticity, not price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05840" y="4855464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"can this replace my mother's food?" — not another RTE brand.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5038344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5093208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5084064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real unit economics and a 3-year financial plan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05840" y="5340096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MRP ₹120–250, ~15–25% net contribution margin, a path to ₹55 Cr revenue by Year 3.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5522976"/>
            <a:ext cx="11185855" cy="0"/>
          </a:xfrm>
          <a:prstGeom prst="line">
            <a:avLst/>
          </a:prstGeom>
          <a:noFill/>
          <a:ln w="9525">
            <a:solidFill>
              <a:srgbClr val="E9E1D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5577840"/>
            <a:ext cx="45720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5840" y="5568696"/>
            <a:ext cx="10682935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416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Regulatory-ready from day one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005840" y="5824728"/>
            <a:ext cx="1068293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FSSAI, US FDA, HACCP, EFSA, and NABL testing built into the launch phase, not bolted on later.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4A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· 30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8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02375" y="15544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459175" y="19202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Ready-to-Eat company.</a:t>
            </a:r>
            <a:endParaRPr lang="en-US" sz="30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4E9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House of Regional Indian Cuisine.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373575" y="3246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F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with Kerala. Judged against a grandmother's kitchen, not another RTE brand.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19495" y="4023360"/>
            <a:ext cx="5669280" cy="0"/>
          </a:xfrm>
          <a:prstGeom prst="line">
            <a:avLst/>
          </a:prstGeom>
          <a:noFill/>
          <a:ln w="12700">
            <a:solidFill>
              <a:srgbClr val="3A27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19495" y="41605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9B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market validation, capital requirements, and the right first city to launch in.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5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 of Regional Indian Cuisine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859975" y="64739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7B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· 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2026-07-28T16:40:48Z</dcterms:created>
  <dcterms:modified xsi:type="dcterms:W3CDTF">2026-07-28T16:40:48Z</dcterms:modified>
</cp:coreProperties>
</file>